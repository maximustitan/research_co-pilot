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5143500" cy="9144000"/>
  <p:embeddedFontLst>
    <p:embeddedFont>
      <p:font typeface="Inter"/>
      <p:regular r:id="rId20"/>
      <p:bold r:id="rId21"/>
      <p:italic r:id="rId22"/>
      <p:boldItalic r:id="rId23"/>
    </p:embeddedFont>
    <p:embeddedFont>
      <p:font typeface="Poppi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gxAwyY+ugOARxuNXYxaZbPLpmQ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regular.fntdata"/><Relationship Id="rId22" Type="http://schemas.openxmlformats.org/officeDocument/2006/relationships/font" Target="fonts/Inter-italic.fntdata"/><Relationship Id="rId21" Type="http://schemas.openxmlformats.org/officeDocument/2006/relationships/font" Target="fonts/Inter-bold.fntdata"/><Relationship Id="rId24" Type="http://schemas.openxmlformats.org/officeDocument/2006/relationships/font" Target="fonts/Poppins-regular.fntdata"/><Relationship Id="rId23" Type="http://schemas.openxmlformats.org/officeDocument/2006/relationships/font" Target="fonts/Inter-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oppins-italic.fntdata"/><Relationship Id="rId25" Type="http://schemas.openxmlformats.org/officeDocument/2006/relationships/font" Target="fonts/Poppins-bold.fntdata"/><Relationship Id="rId28" Type="http://customschemas.google.com/relationships/presentationmetadata" Target="metadata"/><Relationship Id="rId27" Type="http://schemas.openxmlformats.org/officeDocument/2006/relationships/font" Target="fonts/Poppins-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indent="-228600" lvl="1" marL="9144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2pPr>
            <a:lvl3pPr indent="-228600" lvl="2" marL="13716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3pPr>
            <a:lvl4pPr indent="-228600" lvl="3" marL="18288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4pPr>
            <a:lvl5pPr indent="-228600" lvl="4" marL="22860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5pPr>
            <a:lvl6pPr indent="-228600" lvl="5" marL="27432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6pPr>
            <a:lvl7pPr indent="-228600" lvl="6" marL="32004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7pPr>
            <a:lvl8pPr indent="-228600" lvl="7" marL="36576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8pPr>
            <a:lvl9pPr indent="-228600" lvl="8" marL="41148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nter"/>
                <a:ea typeface="Inter"/>
                <a:cs typeface="Inter"/>
                <a:sym typeface="Inter"/>
              </a:rPr>
              <a:t>‹#›</a:t>
            </a:fld>
            <a:endParaRPr b="0" i="0" sz="1200" u="none" cap="none" strike="noStrike">
              <a:solidFill>
                <a:schemeClr val="dk1"/>
              </a:solidFill>
              <a:latin typeface="Inter"/>
              <a:ea typeface="Inter"/>
              <a:cs typeface="Inter"/>
              <a:sym typeface="Inte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We are [Team name], Group 9 of the Mayo AI Bootcamp, and this is Research Mate: an AI research co-pilot that helps students turn a big question into research they are proud of. It is live today at researchmate.online.</a:t>
            </a:r>
            <a:endParaRPr/>
          </a:p>
        </p:txBody>
      </p:sp>
      <p:sp>
        <p:nvSpPr>
          <p:cNvPr id="21" name="Google Shape;2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each team member and their role: Atharva, Kabeer, Raj Shrestha and Raghubir. (Fill in each person's role and one line about what they did.)</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up the problem in one line: people have marvellous ideas but often don't know where to start. In our own school, many students had excellent ideas but couldn't work out how to research them. Information is scattered across websites and papers, and most students have no expert to guide them.</a:t>
            </a:r>
            <a:endParaRPr/>
          </a:p>
        </p:txBody>
      </p:sp>
      <p:sp>
        <p:nvSpPr>
          <p:cNvPr id="62" name="Google Shape;6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numbers frame the gap.</a:t>
            </a:r>
            <a:br>
              <a:rPr lang="en-US"/>
            </a:br>
            <a:r>
              <a:rPr lang="en-US"/>
              <a:t>1) On average across OECD countries, only 9% of 15-year-olds could reliably tell fact from opinion using cues in the text or source (OECD, 21st-Century Readers, 2021, based on PISA 2018): https://www.oecd.org/en/publications/21st-century-readers_a83d84cb-en.html</a:t>
            </a:r>
            <a:br>
              <a:rPr lang="en-US"/>
            </a:br>
            <a:r>
              <a:rPr lang="en-US"/>
              <a:t>2) In a test of 3,446 US high school students, 96% did not consider why a website's funding by the fossil-fuel industry might affect its credibility (Stanford History Education Group, Students' Civic Online Reasoning, 2019): https://newslit.org/updates/study-students-show-troubling-lack-of-news-literacy-skills</a:t>
            </a:r>
            <a:br>
              <a:rPr lang="en-US"/>
            </a:br>
            <a:r>
              <a:rPr lang="en-US"/>
              <a:t>3) One in three young people will grow up without a mentor outside their family (MENTOR, The Mentoring Effect, 2014): https://www.mentoring.org/resource/the-mentoring-effect/</a:t>
            </a:r>
            <a:br>
              <a:rPr lang="en-US"/>
            </a:br>
            <a:r>
              <a:rPr lang="en-US"/>
              <a:t>Check each figure against the original publication before presenting.</a:t>
            </a:r>
            <a:endParaRPr/>
          </a:p>
        </p:txBody>
      </p:sp>
      <p:sp>
        <p:nvSpPr>
          <p:cNvPr id="83" name="Google Shape;8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solution is Research Mate, an AI research partner. A student types their idea, picks what they are writing and their level, and then answers a short AI interview: multiple-choice questions, where each one builds on the last answer. From those answers Research Mate finds trusted sources, takes notes, plans the paper and writes it, and every source is labelled so students know what to trust. The student checks the plan before writing starts and can change anything afterwards.</a:t>
            </a:r>
            <a:endParaRPr/>
          </a:p>
        </p:txBody>
      </p:sp>
      <p:sp>
        <p:nvSpPr>
          <p:cNvPr id="104" name="Google Shape;10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People have marvellous ideas but often don't know where to start. We saw that many students in our school had excellent ideas but couldn't think of how to research them or put them into practice. Research can feel confusing because information is scattered across many websites and papers, and most students don't have an expert to guide them. Keeping this in mind, we built a solution that is accessible to everyone: an AI co-pilot that helps people research and implement their ideas.</a:t>
            </a:r>
            <a:endParaRPr/>
          </a:p>
        </p:txBody>
      </p:sp>
      <p:sp>
        <p:nvSpPr>
          <p:cNvPr id="124" name="Google Shape;12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Start: the student types their idea in everyday words, picks what they are writing (essay, report or paper) and their level, from Grade 4 to university. Step 1, Interview: the AI asks multiple-choice questions one at a time. Each question is built on the previous answer, for example which part of the topic, which group or place, and which effect to explore, and students can always type their own answer instead.</a:t>
            </a:r>
            <a:endParaRPr/>
          </a:p>
        </p:txBody>
      </p:sp>
      <p:sp>
        <p:nvSpPr>
          <p:cNvPr id="148" name="Google Shape;14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Step 2, Your plan: the answers add up to one clear research question, shown with every answer so the student can change any of them, along with paper length, the kind of sources and citation style. Step 3, AI research: Research Mate finds trusted sources on the web, keeps only the ones its searches really returned, takes notes from them, plans the sections and writes each one with citations, then writes an abstract.</a:t>
            </a:r>
            <a:endParaRPr/>
          </a:p>
        </p:txBody>
      </p:sp>
      <p:sp>
        <p:nvSpPr>
          <p:cNvPr id="166" name="Google Shape;16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Step 4, Paper view: the finished paper looks like a published article, with US Letter pages, a title block, an abstract and keywords, two justified columns, numbered headings, page numbers and a reference list. Step 5, Your style: switch between APA, MLA and IEEE, and both the in-text citations and the reference list change to match. PDF and print give exactly the same pages.</a:t>
            </a:r>
            <a:endParaRPr/>
          </a:p>
        </p:txBody>
      </p:sp>
      <p:sp>
        <p:nvSpPr>
          <p:cNvPr id="184" name="Google Shape;18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Step 6, Review: Research Mate checks originality, grammar and spelling, and the Verification Agent confirms each cited claim is supported by its source. Any problem can be fixed with one click. The paper exports in APA, MLA or IEEE style to Word, PDF or plain text.</a:t>
            </a:r>
            <a:endParaRPr/>
          </a:p>
        </p:txBody>
      </p:sp>
      <p:sp>
        <p:nvSpPr>
          <p:cNvPr id="202" name="Google Shape;20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Six benefits: trustworthy sources, a paper shaped by the student's own answers, claims checked against evidence, help pitched at their level, accessibility features, and the whole app in English or Hindi.</a:t>
            </a:r>
            <a:endParaRPr/>
          </a:p>
        </p:txBody>
      </p:sp>
      <p:sp>
        <p:nvSpPr>
          <p:cNvPr id="220" name="Google Shape;22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wider impact: research help for any student with a browser, better information literacy at a time of online misinformation, and transparent work, because every fact is cited and checked against its source. Add any school feedback or pilot results here when you have them.</a:t>
            </a:r>
            <a:endParaRPr/>
          </a:p>
        </p:txBody>
      </p:sp>
      <p:sp>
        <p:nvSpPr>
          <p:cNvPr id="258" name="Google Shape;25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stack: Next.js, React and Tailwind on the front end; Claude through Vercel AI Gateway for the AI, with web search so sources are real and Zod schemas so every answer has the right shape; Supabase for sign-in with email verification and row-level security so nobody can see another student's work; hosted on Vercel. Six agents cooperate: the Interviewer asks the questions, Source Discovery finds sources, the Outline Builder plans the sections, the Writing Partner drafts them, the Editor writes the abstract, and Verification checks every cited claim. We built it step by step with Claude Code.</a:t>
            </a:r>
            <a:endParaRPr/>
          </a:p>
        </p:txBody>
      </p:sp>
      <p:sp>
        <p:nvSpPr>
          <p:cNvPr id="277" name="Google Shape;27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the future we aim to integrate more academic databases, add multilingual support and improve document analysis. We plan to make our specialised AI agents collaborate more effectively, verify evidence more accurately and identify research gaps more reliably. Additional features could include voice interaction, offline access to saved research and improved accessibility. We also hope to build mobile apps and work with schools, universities and research institutions. User feedback will guide improvements, so the platform stays affordable, inclusive and useful.</a:t>
            </a:r>
            <a:endParaRPr/>
          </a:p>
        </p:txBody>
      </p:sp>
      <p:sp>
        <p:nvSpPr>
          <p:cNvPr id="315" name="Google Shape;31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Thank you. Research Mate is live at researchmate.online, so please try it. We are happy to take questions.</a:t>
            </a:r>
            <a:endParaRPr/>
          </a:p>
        </p:txBody>
      </p:sp>
      <p:sp>
        <p:nvSpPr>
          <p:cNvPr id="342" name="Google Shape;34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14172A"/>
        </a:solidFill>
      </p:bgPr>
    </p:bg>
    <p:spTree>
      <p:nvGrpSpPr>
        <p:cNvPr id="11" name="Shape 11"/>
        <p:cNvGrpSpPr/>
        <p:nvPr/>
      </p:nvGrpSpPr>
      <p:grpSpPr>
        <a:xfrm>
          <a:off x="0" y="0"/>
          <a:ext cx="0" cy="0"/>
          <a:chOff x="0" y="0"/>
          <a:chExt cx="0" cy="0"/>
        </a:xfrm>
      </p:grpSpPr>
      <p:sp>
        <p:nvSpPr>
          <p:cNvPr id="12" name="Google Shape;12;p17"/>
          <p:cNvSpPr/>
          <p:nvPr/>
        </p:nvSpPr>
        <p:spPr>
          <a:xfrm>
            <a:off x="457200" y="4773168"/>
            <a:ext cx="5486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D84A8"/>
              </a:buClr>
              <a:buSzPts val="900"/>
              <a:buFont typeface="Inter"/>
              <a:buNone/>
            </a:pPr>
            <a:r>
              <a:rPr b="0" i="0" lang="en-US" sz="900" u="none" cap="none" strike="noStrike">
                <a:solidFill>
                  <a:srgbClr val="7D84A8"/>
                </a:solidFill>
                <a:latin typeface="Inter"/>
                <a:ea typeface="Inter"/>
                <a:cs typeface="Inter"/>
                <a:sym typeface="Inter"/>
              </a:rPr>
              <a:t>Research Mate  ·  Mayo AI Bootcamp  ·  Group 9</a:t>
            </a:r>
            <a:endParaRPr b="0" i="0" sz="900" u="none" cap="none" strike="noStrike">
              <a:solidFill>
                <a:schemeClr val="dk1"/>
              </a:solidFill>
              <a:latin typeface="Inter"/>
              <a:ea typeface="Inter"/>
              <a:cs typeface="Inter"/>
              <a:sym typeface="Inter"/>
            </a:endParaRPr>
          </a:p>
        </p:txBody>
      </p:sp>
      <p:sp>
        <p:nvSpPr>
          <p:cNvPr id="13" name="Google Shape;13;p17"/>
          <p:cNvSpPr txBox="1"/>
          <p:nvPr>
            <p:ph idx="12" type="sldNum"/>
          </p:nvPr>
        </p:nvSpPr>
        <p:spPr>
          <a:xfrm>
            <a:off x="8229600" y="4773168"/>
            <a:ext cx="457200" cy="2286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00" u="none" cap="none" strike="noStrike">
                <a:solidFill>
                  <a:srgbClr val="7D84A8"/>
                </a:solidFill>
                <a:latin typeface="Inter"/>
                <a:ea typeface="Inter"/>
                <a:cs typeface="Inter"/>
                <a:sym typeface="Inter"/>
              </a:defRPr>
            </a:lvl1pPr>
            <a:lvl2pPr indent="0" lvl="1" marL="0" marR="0" algn="r">
              <a:spcBef>
                <a:spcPts val="0"/>
              </a:spcBef>
              <a:buNone/>
              <a:defRPr b="0" i="0" sz="900" u="none" cap="none" strike="noStrike">
                <a:solidFill>
                  <a:srgbClr val="7D84A8"/>
                </a:solidFill>
                <a:latin typeface="Inter"/>
                <a:ea typeface="Inter"/>
                <a:cs typeface="Inter"/>
                <a:sym typeface="Inter"/>
              </a:defRPr>
            </a:lvl2pPr>
            <a:lvl3pPr indent="0" lvl="2" marL="0" marR="0" algn="r">
              <a:spcBef>
                <a:spcPts val="0"/>
              </a:spcBef>
              <a:buNone/>
              <a:defRPr b="0" i="0" sz="900" u="none" cap="none" strike="noStrike">
                <a:solidFill>
                  <a:srgbClr val="7D84A8"/>
                </a:solidFill>
                <a:latin typeface="Inter"/>
                <a:ea typeface="Inter"/>
                <a:cs typeface="Inter"/>
                <a:sym typeface="Inter"/>
              </a:defRPr>
            </a:lvl3pPr>
            <a:lvl4pPr indent="0" lvl="3" marL="0" marR="0" algn="r">
              <a:spcBef>
                <a:spcPts val="0"/>
              </a:spcBef>
              <a:buNone/>
              <a:defRPr b="0" i="0" sz="900" u="none" cap="none" strike="noStrike">
                <a:solidFill>
                  <a:srgbClr val="7D84A8"/>
                </a:solidFill>
                <a:latin typeface="Inter"/>
                <a:ea typeface="Inter"/>
                <a:cs typeface="Inter"/>
                <a:sym typeface="Inter"/>
              </a:defRPr>
            </a:lvl4pPr>
            <a:lvl5pPr indent="0" lvl="4" marL="0" marR="0" algn="r">
              <a:spcBef>
                <a:spcPts val="0"/>
              </a:spcBef>
              <a:buNone/>
              <a:defRPr b="0" i="0" sz="900" u="none" cap="none" strike="noStrike">
                <a:solidFill>
                  <a:srgbClr val="7D84A8"/>
                </a:solidFill>
                <a:latin typeface="Inter"/>
                <a:ea typeface="Inter"/>
                <a:cs typeface="Inter"/>
                <a:sym typeface="Inter"/>
              </a:defRPr>
            </a:lvl5pPr>
            <a:lvl6pPr indent="0" lvl="5" marL="0" marR="0" algn="r">
              <a:spcBef>
                <a:spcPts val="0"/>
              </a:spcBef>
              <a:buNone/>
              <a:defRPr b="0" i="0" sz="900" u="none" cap="none" strike="noStrike">
                <a:solidFill>
                  <a:srgbClr val="7D84A8"/>
                </a:solidFill>
                <a:latin typeface="Inter"/>
                <a:ea typeface="Inter"/>
                <a:cs typeface="Inter"/>
                <a:sym typeface="Inter"/>
              </a:defRPr>
            </a:lvl6pPr>
            <a:lvl7pPr indent="0" lvl="6" marL="0" marR="0" algn="r">
              <a:spcBef>
                <a:spcPts val="0"/>
              </a:spcBef>
              <a:buNone/>
              <a:defRPr b="0" i="0" sz="900" u="none" cap="none" strike="noStrike">
                <a:solidFill>
                  <a:srgbClr val="7D84A8"/>
                </a:solidFill>
                <a:latin typeface="Inter"/>
                <a:ea typeface="Inter"/>
                <a:cs typeface="Inter"/>
                <a:sym typeface="Inter"/>
              </a:defRPr>
            </a:lvl7pPr>
            <a:lvl8pPr indent="0" lvl="7" marL="0" marR="0" algn="r">
              <a:spcBef>
                <a:spcPts val="0"/>
              </a:spcBef>
              <a:buNone/>
              <a:defRPr b="0" i="0" sz="900" u="none" cap="none" strike="noStrike">
                <a:solidFill>
                  <a:srgbClr val="7D84A8"/>
                </a:solidFill>
                <a:latin typeface="Inter"/>
                <a:ea typeface="Inter"/>
                <a:cs typeface="Inter"/>
                <a:sym typeface="Inter"/>
              </a:defRPr>
            </a:lvl8pPr>
            <a:lvl9pPr indent="0" lvl="8" marL="0" marR="0" algn="r">
              <a:spcBef>
                <a:spcPts val="0"/>
              </a:spcBef>
              <a:buNone/>
              <a:defRPr b="0" i="0" sz="900" u="none" cap="none" strike="noStrike">
                <a:solidFill>
                  <a:srgbClr val="7D84A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4" name="Shape 14"/>
        <p:cNvGrpSpPr/>
        <p:nvPr/>
      </p:nvGrpSpPr>
      <p:grpSpPr>
        <a:xfrm>
          <a:off x="0" y="0"/>
          <a:ext cx="0" cy="0"/>
          <a:chOff x="0" y="0"/>
          <a:chExt cx="0" cy="0"/>
        </a:xfrm>
      </p:grpSpPr>
      <p:sp>
        <p:nvSpPr>
          <p:cNvPr id="15" name="Google Shape;15;p18"/>
          <p:cNvSpPr/>
          <p:nvPr/>
        </p:nvSpPr>
        <p:spPr>
          <a:xfrm>
            <a:off x="457200" y="4773168"/>
            <a:ext cx="5486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8FA8"/>
              </a:buClr>
              <a:buSzPts val="900"/>
              <a:buFont typeface="Inter"/>
              <a:buNone/>
            </a:pPr>
            <a:r>
              <a:rPr b="0" i="0" lang="en-US" sz="900" u="none" cap="none" strike="noStrike">
                <a:solidFill>
                  <a:srgbClr val="8A8FA8"/>
                </a:solidFill>
                <a:latin typeface="Inter"/>
                <a:ea typeface="Inter"/>
                <a:cs typeface="Inter"/>
                <a:sym typeface="Inter"/>
              </a:rPr>
              <a:t>Research Mate  ·  Mayo AI Bootcamp  ·  Group 9</a:t>
            </a:r>
            <a:endParaRPr b="0" i="0" sz="900" u="none" cap="none" strike="noStrike">
              <a:solidFill>
                <a:schemeClr val="dk1"/>
              </a:solidFill>
              <a:latin typeface="Inter"/>
              <a:ea typeface="Inter"/>
              <a:cs typeface="Inter"/>
              <a:sym typeface="Inter"/>
            </a:endParaRPr>
          </a:p>
        </p:txBody>
      </p:sp>
      <p:sp>
        <p:nvSpPr>
          <p:cNvPr id="16" name="Google Shape;16;p18"/>
          <p:cNvSpPr txBox="1"/>
          <p:nvPr>
            <p:ph idx="12" type="sldNum"/>
          </p:nvPr>
        </p:nvSpPr>
        <p:spPr>
          <a:xfrm>
            <a:off x="8229600" y="4773168"/>
            <a:ext cx="457200" cy="22860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900" u="none" cap="none" strike="noStrike">
                <a:solidFill>
                  <a:srgbClr val="8A8FA8"/>
                </a:solidFill>
                <a:latin typeface="Inter"/>
                <a:ea typeface="Inter"/>
                <a:cs typeface="Inter"/>
                <a:sym typeface="Inter"/>
              </a:defRPr>
            </a:lvl1pPr>
            <a:lvl2pPr indent="0" lvl="1" marL="0" marR="0" algn="r">
              <a:spcBef>
                <a:spcPts val="0"/>
              </a:spcBef>
              <a:buNone/>
              <a:defRPr b="0" i="0" sz="900" u="none" cap="none" strike="noStrike">
                <a:solidFill>
                  <a:srgbClr val="8A8FA8"/>
                </a:solidFill>
                <a:latin typeface="Inter"/>
                <a:ea typeface="Inter"/>
                <a:cs typeface="Inter"/>
                <a:sym typeface="Inter"/>
              </a:defRPr>
            </a:lvl2pPr>
            <a:lvl3pPr indent="0" lvl="2" marL="0" marR="0" algn="r">
              <a:spcBef>
                <a:spcPts val="0"/>
              </a:spcBef>
              <a:buNone/>
              <a:defRPr b="0" i="0" sz="900" u="none" cap="none" strike="noStrike">
                <a:solidFill>
                  <a:srgbClr val="8A8FA8"/>
                </a:solidFill>
                <a:latin typeface="Inter"/>
                <a:ea typeface="Inter"/>
                <a:cs typeface="Inter"/>
                <a:sym typeface="Inter"/>
              </a:defRPr>
            </a:lvl3pPr>
            <a:lvl4pPr indent="0" lvl="3" marL="0" marR="0" algn="r">
              <a:spcBef>
                <a:spcPts val="0"/>
              </a:spcBef>
              <a:buNone/>
              <a:defRPr b="0" i="0" sz="900" u="none" cap="none" strike="noStrike">
                <a:solidFill>
                  <a:srgbClr val="8A8FA8"/>
                </a:solidFill>
                <a:latin typeface="Inter"/>
                <a:ea typeface="Inter"/>
                <a:cs typeface="Inter"/>
                <a:sym typeface="Inter"/>
              </a:defRPr>
            </a:lvl4pPr>
            <a:lvl5pPr indent="0" lvl="4" marL="0" marR="0" algn="r">
              <a:spcBef>
                <a:spcPts val="0"/>
              </a:spcBef>
              <a:buNone/>
              <a:defRPr b="0" i="0" sz="900" u="none" cap="none" strike="noStrike">
                <a:solidFill>
                  <a:srgbClr val="8A8FA8"/>
                </a:solidFill>
                <a:latin typeface="Inter"/>
                <a:ea typeface="Inter"/>
                <a:cs typeface="Inter"/>
                <a:sym typeface="Inter"/>
              </a:defRPr>
            </a:lvl5pPr>
            <a:lvl6pPr indent="0" lvl="5" marL="0" marR="0" algn="r">
              <a:spcBef>
                <a:spcPts val="0"/>
              </a:spcBef>
              <a:buNone/>
              <a:defRPr b="0" i="0" sz="900" u="none" cap="none" strike="noStrike">
                <a:solidFill>
                  <a:srgbClr val="8A8FA8"/>
                </a:solidFill>
                <a:latin typeface="Inter"/>
                <a:ea typeface="Inter"/>
                <a:cs typeface="Inter"/>
                <a:sym typeface="Inter"/>
              </a:defRPr>
            </a:lvl6pPr>
            <a:lvl7pPr indent="0" lvl="6" marL="0" marR="0" algn="r">
              <a:spcBef>
                <a:spcPts val="0"/>
              </a:spcBef>
              <a:buNone/>
              <a:defRPr b="0" i="0" sz="900" u="none" cap="none" strike="noStrike">
                <a:solidFill>
                  <a:srgbClr val="8A8FA8"/>
                </a:solidFill>
                <a:latin typeface="Inter"/>
                <a:ea typeface="Inter"/>
                <a:cs typeface="Inter"/>
                <a:sym typeface="Inter"/>
              </a:defRPr>
            </a:lvl7pPr>
            <a:lvl8pPr indent="0" lvl="7" marL="0" marR="0" algn="r">
              <a:spcBef>
                <a:spcPts val="0"/>
              </a:spcBef>
              <a:buNone/>
              <a:defRPr b="0" i="0" sz="900" u="none" cap="none" strike="noStrike">
                <a:solidFill>
                  <a:srgbClr val="8A8FA8"/>
                </a:solidFill>
                <a:latin typeface="Inter"/>
                <a:ea typeface="Inter"/>
                <a:cs typeface="Inter"/>
                <a:sym typeface="Inter"/>
              </a:defRPr>
            </a:lvl8pPr>
            <a:lvl9pPr indent="0" lvl="8" marL="0" marR="0" algn="r">
              <a:spcBef>
                <a:spcPts val="0"/>
              </a:spcBef>
              <a:buNone/>
              <a:defRPr b="0" i="0" sz="900" u="none" cap="none" strike="noStrike">
                <a:solidFill>
                  <a:srgbClr val="8A8FA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7" name="Shape 1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6"/>
          <p:cNvSpPr txBox="1"/>
          <p:nvPr>
            <p:ph idx="12" type="sldNum"/>
          </p:nvPr>
        </p:nvSpPr>
        <p:spPr>
          <a:xfrm>
            <a:off x="8229600" y="4773168"/>
            <a:ext cx="457200" cy="2286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900" u="none" cap="none" strike="noStrike">
                <a:solidFill>
                  <a:srgbClr val="8A8FA8"/>
                </a:solidFill>
                <a:latin typeface="Inter"/>
                <a:ea typeface="Inter"/>
                <a:cs typeface="Inter"/>
                <a:sym typeface="Inter"/>
              </a:defRPr>
            </a:lvl1pPr>
            <a:lvl2pPr indent="0" lvl="1" marL="0" marR="0" rtl="0" algn="r">
              <a:spcBef>
                <a:spcPts val="0"/>
              </a:spcBef>
              <a:buNone/>
              <a:defRPr b="0" i="0" sz="900" u="none" cap="none" strike="noStrike">
                <a:solidFill>
                  <a:srgbClr val="8A8FA8"/>
                </a:solidFill>
                <a:latin typeface="Inter"/>
                <a:ea typeface="Inter"/>
                <a:cs typeface="Inter"/>
                <a:sym typeface="Inter"/>
              </a:defRPr>
            </a:lvl2pPr>
            <a:lvl3pPr indent="0" lvl="2" marL="0" marR="0" rtl="0" algn="r">
              <a:spcBef>
                <a:spcPts val="0"/>
              </a:spcBef>
              <a:buNone/>
              <a:defRPr b="0" i="0" sz="900" u="none" cap="none" strike="noStrike">
                <a:solidFill>
                  <a:srgbClr val="8A8FA8"/>
                </a:solidFill>
                <a:latin typeface="Inter"/>
                <a:ea typeface="Inter"/>
                <a:cs typeface="Inter"/>
                <a:sym typeface="Inter"/>
              </a:defRPr>
            </a:lvl3pPr>
            <a:lvl4pPr indent="0" lvl="3" marL="0" marR="0" rtl="0" algn="r">
              <a:spcBef>
                <a:spcPts val="0"/>
              </a:spcBef>
              <a:buNone/>
              <a:defRPr b="0" i="0" sz="900" u="none" cap="none" strike="noStrike">
                <a:solidFill>
                  <a:srgbClr val="8A8FA8"/>
                </a:solidFill>
                <a:latin typeface="Inter"/>
                <a:ea typeface="Inter"/>
                <a:cs typeface="Inter"/>
                <a:sym typeface="Inter"/>
              </a:defRPr>
            </a:lvl4pPr>
            <a:lvl5pPr indent="0" lvl="4" marL="0" marR="0" rtl="0" algn="r">
              <a:spcBef>
                <a:spcPts val="0"/>
              </a:spcBef>
              <a:buNone/>
              <a:defRPr b="0" i="0" sz="900" u="none" cap="none" strike="noStrike">
                <a:solidFill>
                  <a:srgbClr val="8A8FA8"/>
                </a:solidFill>
                <a:latin typeface="Inter"/>
                <a:ea typeface="Inter"/>
                <a:cs typeface="Inter"/>
                <a:sym typeface="Inter"/>
              </a:defRPr>
            </a:lvl5pPr>
            <a:lvl6pPr indent="0" lvl="5" marL="0" marR="0" rtl="0" algn="r">
              <a:spcBef>
                <a:spcPts val="0"/>
              </a:spcBef>
              <a:buNone/>
              <a:defRPr b="0" i="0" sz="900" u="none" cap="none" strike="noStrike">
                <a:solidFill>
                  <a:srgbClr val="8A8FA8"/>
                </a:solidFill>
                <a:latin typeface="Inter"/>
                <a:ea typeface="Inter"/>
                <a:cs typeface="Inter"/>
                <a:sym typeface="Inter"/>
              </a:defRPr>
            </a:lvl6pPr>
            <a:lvl7pPr indent="0" lvl="6" marL="0" marR="0" rtl="0" algn="r">
              <a:spcBef>
                <a:spcPts val="0"/>
              </a:spcBef>
              <a:buNone/>
              <a:defRPr b="0" i="0" sz="900" u="none" cap="none" strike="noStrike">
                <a:solidFill>
                  <a:srgbClr val="8A8FA8"/>
                </a:solidFill>
                <a:latin typeface="Inter"/>
                <a:ea typeface="Inter"/>
                <a:cs typeface="Inter"/>
                <a:sym typeface="Inter"/>
              </a:defRPr>
            </a:lvl7pPr>
            <a:lvl8pPr indent="0" lvl="7" marL="0" marR="0" rtl="0" algn="r">
              <a:spcBef>
                <a:spcPts val="0"/>
              </a:spcBef>
              <a:buNone/>
              <a:defRPr b="0" i="0" sz="900" u="none" cap="none" strike="noStrike">
                <a:solidFill>
                  <a:srgbClr val="8A8FA8"/>
                </a:solidFill>
                <a:latin typeface="Inter"/>
                <a:ea typeface="Inter"/>
                <a:cs typeface="Inter"/>
                <a:sym typeface="Inter"/>
              </a:defRPr>
            </a:lvl8pPr>
            <a:lvl9pPr indent="0" lvl="8" marL="0" marR="0" rtl="0" algn="r">
              <a:spcBef>
                <a:spcPts val="0"/>
              </a:spcBef>
              <a:buNone/>
              <a:defRPr b="0" i="0" sz="900" u="none" cap="none" strike="noStrike">
                <a:solidFill>
                  <a:srgbClr val="8A8FA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rm_review.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jpg"/><Relationship Id="rId4" Type="http://schemas.openxmlformats.org/officeDocument/2006/relationships/image" Target="../media/image9.jpg"/><Relationship Id="rId5" Type="http://schemas.openxmlformats.org/officeDocument/2006/relationships/image" Target="../media/image15.jpg"/><Relationship Id="rId6"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2.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image" Target="../media/image1.png"/><Relationship Id="rId6" Type="http://schemas.openxmlformats.org/officeDocument/2006/relationships/image" Target="../media/rm_interview.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5.png"/><Relationship Id="rId4"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rm_start.jpg"/><Relationship Id="rId4" Type="http://schemas.openxmlformats.org/officeDocument/2006/relationships/image" Target="../media/rm_interview.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rm_plan.jpg"/><Relationship Id="rId4" Type="http://schemas.openxmlformats.org/officeDocument/2006/relationships/image" Target="../media/rm_generate.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rm_paper.jpg"/><Relationship Id="rId4" Type="http://schemas.openxmlformats.org/officeDocument/2006/relationships/image" Target="../media/rm_styles.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rm_review.jp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25.png"/><Relationship Id="rId5" Type="http://schemas.openxmlformats.org/officeDocument/2006/relationships/image" Target="../media/image30.png"/><Relationship Id="rId6" Type="http://schemas.openxmlformats.org/officeDocument/2006/relationships/image" Target="../media/image28.png"/><Relationship Id="rId7" Type="http://schemas.openxmlformats.org/officeDocument/2006/relationships/image" Target="../media/image34.png"/><Relationship Id="rId8"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2.png"/><Relationship Id="rId4" Type="http://schemas.openxmlformats.org/officeDocument/2006/relationships/image" Target="../media/image35.png"/><Relationship Id="rId5"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6.png"/><Relationship Id="rId4" Type="http://schemas.openxmlformats.org/officeDocument/2006/relationships/image" Target="../media/image40.png"/><Relationship Id="rId5" Type="http://schemas.openxmlformats.org/officeDocument/2006/relationships/image" Target="../media/image39.png"/><Relationship Id="rId6"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8.png"/><Relationship Id="rId4" Type="http://schemas.openxmlformats.org/officeDocument/2006/relationships/image" Target="../media/image41.png"/><Relationship Id="rId5" Type="http://schemas.openxmlformats.org/officeDocument/2006/relationships/image" Target="../media/image4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hyperlink" Target="https://www.researchmate.onlin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pic>
        <p:nvPicPr>
          <p:cNvPr descr="C:\Users\vardh\AppData\Local\Temp\claude\C--Mayo-Projects-research-co-pilot\ed8aac66-bc68-4af8-a2ce-7ca39eae2bf2\scratchpad\deck\img\logo.png" id="23" name="Google Shape;23;p1"/>
          <p:cNvPicPr preferRelativeResize="0"/>
          <p:nvPr/>
        </p:nvPicPr>
        <p:blipFill rotWithShape="1">
          <a:blip r:embed="rId3">
            <a:alphaModFix/>
          </a:blip>
          <a:srcRect b="0" l="0" r="0" t="0"/>
          <a:stretch/>
        </p:blipFill>
        <p:spPr>
          <a:xfrm>
            <a:off x="457200" y="411480"/>
            <a:ext cx="457200" cy="457200"/>
          </a:xfrm>
          <a:prstGeom prst="rect">
            <a:avLst/>
          </a:prstGeom>
          <a:noFill/>
          <a:ln>
            <a:noFill/>
          </a:ln>
        </p:spPr>
      </p:pic>
      <p:sp>
        <p:nvSpPr>
          <p:cNvPr id="24" name="Google Shape;24;p1"/>
          <p:cNvSpPr txBox="1"/>
          <p:nvPr/>
        </p:nvSpPr>
        <p:spPr>
          <a:xfrm>
            <a:off x="1005840" y="41148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Poppins"/>
              <a:buNone/>
            </a:pPr>
            <a:r>
              <a:rPr b="1" i="0" lang="en-US" sz="1600" u="none" cap="none" strike="noStrike">
                <a:solidFill>
                  <a:srgbClr val="FFFFFF"/>
                </a:solidFill>
                <a:latin typeface="Poppins"/>
                <a:ea typeface="Poppins"/>
                <a:cs typeface="Poppins"/>
                <a:sym typeface="Poppins"/>
              </a:rPr>
              <a:t>Research Mate</a:t>
            </a:r>
            <a:endParaRPr b="0" i="0" sz="1600" u="none" cap="none" strike="noStrike">
              <a:solidFill>
                <a:schemeClr val="dk1"/>
              </a:solidFill>
              <a:latin typeface="Inter"/>
              <a:ea typeface="Inter"/>
              <a:cs typeface="Inter"/>
              <a:sym typeface="Inter"/>
            </a:endParaRPr>
          </a:p>
        </p:txBody>
      </p:sp>
      <p:sp>
        <p:nvSpPr>
          <p:cNvPr id="25" name="Google Shape;25;p1"/>
          <p:cNvSpPr txBox="1"/>
          <p:nvPr/>
        </p:nvSpPr>
        <p:spPr>
          <a:xfrm>
            <a:off x="457200" y="1234440"/>
            <a:ext cx="420624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200"/>
              <a:buFont typeface="Poppins"/>
              <a:buNone/>
            </a:pPr>
            <a:r>
              <a:rPr b="1" i="0" lang="en-US" sz="3200" u="none" cap="none" strike="noStrike">
                <a:solidFill>
                  <a:srgbClr val="FFFFFF"/>
                </a:solidFill>
                <a:latin typeface="Poppins"/>
                <a:ea typeface="Poppins"/>
                <a:cs typeface="Poppins"/>
                <a:sym typeface="Poppins"/>
              </a:rPr>
              <a:t>Turn a big question into </a:t>
            </a:r>
            <a:r>
              <a:rPr b="1" i="0" lang="en-US" sz="3200" u="none" cap="none" strike="noStrike">
                <a:solidFill>
                  <a:srgbClr val="A3E635"/>
                </a:solidFill>
                <a:latin typeface="Poppins"/>
                <a:ea typeface="Poppins"/>
                <a:cs typeface="Poppins"/>
                <a:sym typeface="Poppins"/>
              </a:rPr>
              <a:t>research</a:t>
            </a:r>
            <a:r>
              <a:rPr b="1" i="0" lang="en-US" sz="3200" u="none" cap="none" strike="noStrike">
                <a:solidFill>
                  <a:srgbClr val="FFFFFF"/>
                </a:solidFill>
                <a:latin typeface="Poppins"/>
                <a:ea typeface="Poppins"/>
                <a:cs typeface="Poppins"/>
                <a:sym typeface="Poppins"/>
              </a:rPr>
              <a:t> you're proud of</a:t>
            </a:r>
            <a:endParaRPr b="0" i="0" sz="3200" u="none" cap="none" strike="noStrike">
              <a:solidFill>
                <a:schemeClr val="dk1"/>
              </a:solidFill>
              <a:latin typeface="Inter"/>
              <a:ea typeface="Inter"/>
              <a:cs typeface="Inter"/>
              <a:sym typeface="Inter"/>
            </a:endParaRPr>
          </a:p>
        </p:txBody>
      </p:sp>
      <p:sp>
        <p:nvSpPr>
          <p:cNvPr id="26" name="Google Shape;26;p1"/>
          <p:cNvSpPr txBox="1"/>
          <p:nvPr/>
        </p:nvSpPr>
        <p:spPr>
          <a:xfrm>
            <a:off x="457200" y="2926080"/>
            <a:ext cx="40233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CDE6"/>
              </a:buClr>
              <a:buSzPts val="1400"/>
              <a:buFont typeface="Inter"/>
              <a:buNone/>
            </a:pPr>
            <a:r>
              <a:rPr b="0" i="0" lang="en-US" sz="1400" u="none" cap="none" strike="noStrike">
                <a:solidFill>
                  <a:srgbClr val="C9CDE6"/>
                </a:solidFill>
                <a:latin typeface="Inter"/>
                <a:ea typeface="Inter"/>
                <a:cs typeface="Inter"/>
                <a:sym typeface="Inter"/>
              </a:rPr>
              <a:t>An AI research co-pilot for students, from Grade 4 to university</a:t>
            </a:r>
            <a:endParaRPr b="0" i="0" sz="1400" u="none" cap="none" strike="noStrike">
              <a:solidFill>
                <a:schemeClr val="dk1"/>
              </a:solidFill>
              <a:latin typeface="Inter"/>
              <a:ea typeface="Inter"/>
              <a:cs typeface="Inter"/>
              <a:sym typeface="Inter"/>
            </a:endParaRPr>
          </a:p>
        </p:txBody>
      </p:sp>
      <p:sp>
        <p:nvSpPr>
          <p:cNvPr id="27" name="Google Shape;27;p1"/>
          <p:cNvSpPr txBox="1"/>
          <p:nvPr/>
        </p:nvSpPr>
        <p:spPr>
          <a:xfrm>
            <a:off x="457200" y="3794760"/>
            <a:ext cx="402336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Inter"/>
              <a:buNone/>
            </a:pPr>
            <a:r>
              <a:rPr b="1" i="0" lang="en-US" sz="1200" u="none" cap="none" strike="noStrike">
                <a:solidFill>
                  <a:srgbClr val="FFFFFF"/>
                </a:solidFill>
                <a:latin typeface="Inter"/>
                <a:ea typeface="Inter"/>
                <a:cs typeface="Inter"/>
                <a:sym typeface="Inter"/>
              </a:rPr>
              <a:t>Mayo AI Bootcamp · Group 9</a:t>
            </a:r>
            <a:endParaRPr b="0" i="0" sz="1200" u="none" cap="none" strike="noStrike">
              <a:solidFill>
                <a:schemeClr val="dk1"/>
              </a:solidFill>
              <a:latin typeface="Inter"/>
              <a:ea typeface="Inter"/>
              <a:cs typeface="Inter"/>
              <a:sym typeface="Inter"/>
            </a:endParaRPr>
          </a:p>
          <a:p>
            <a:pPr indent="0" lvl="0" marL="0" marR="0" rtl="0" algn="l">
              <a:spcBef>
                <a:spcPts val="200"/>
              </a:spcBef>
              <a:spcAft>
                <a:spcPts val="0"/>
              </a:spcAft>
              <a:buClr>
                <a:srgbClr val="8B9CF8"/>
              </a:buClr>
              <a:buSzPts val="1200"/>
              <a:buFont typeface="Inter"/>
              <a:buNone/>
            </a:pPr>
            <a:r>
              <a:rPr b="0" i="0" lang="en-US" sz="1200" u="none" cap="none" strike="noStrike">
                <a:solidFill>
                  <a:srgbClr val="8B9CF8"/>
                </a:solidFill>
                <a:latin typeface="Inter"/>
                <a:ea typeface="Inter"/>
                <a:cs typeface="Inter"/>
                <a:sym typeface="Inter"/>
              </a:rPr>
              <a:t>researchmate.online</a:t>
            </a:r>
            <a:endParaRPr b="0" i="0" sz="1200" u="none" cap="none" strike="noStrike">
              <a:solidFill>
                <a:schemeClr val="dk1"/>
              </a:solidFill>
              <a:latin typeface="Inter"/>
              <a:ea typeface="Inter"/>
              <a:cs typeface="Inter"/>
              <a:sym typeface="Inter"/>
            </a:endParaRPr>
          </a:p>
        </p:txBody>
      </p:sp>
      <p:sp>
        <p:nvSpPr>
          <p:cNvPr id="28" name="Google Shape;28;p1"/>
          <p:cNvSpPr/>
          <p:nvPr/>
        </p:nvSpPr>
        <p:spPr>
          <a:xfrm>
            <a:off x="4837176" y="1271016"/>
            <a:ext cx="3904488" cy="2234794"/>
          </a:xfrm>
          <a:prstGeom prst="roundRect">
            <a:avLst>
              <a:gd fmla="val 4092" name="adj"/>
            </a:avLst>
          </a:prstGeom>
          <a:solidFill>
            <a:srgbClr val="1E2238"/>
          </a:solidFill>
          <a:ln cap="flat" cmpd="sng" w="12700">
            <a:solidFill>
              <a:srgbClr val="1E2238"/>
            </a:solidFill>
            <a:prstDash val="solid"/>
            <a:round/>
            <a:headEnd len="sm" w="sm" type="none"/>
            <a:tailEnd len="sm" w="sm" type="none"/>
          </a:ln>
          <a:effectLst>
            <a:outerShdw blurRad="127000" rotWithShape="0" algn="bl" dir="5400000" dist="38100">
              <a:srgbClr val="1B1E33">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sers\vardh\AppData\Local\Temp\claude\C--Mayo-Projects-research-co-pilot\ed8aac66-bc68-4af8-a2ce-7ca39eae2bf2\scratchpad\deck\img\sources.jpg" id="29" name="Google Shape;29;p1"/>
          <p:cNvPicPr preferRelativeResize="0"/>
          <p:nvPr/>
        </p:nvPicPr>
        <p:blipFill rotWithShape="1">
          <a:blip r:embed="rId4">
            <a:alphaModFix/>
          </a:blip>
          <a:srcRect b="0" l="0" r="0" t="0"/>
          <a:stretch/>
        </p:blipFill>
        <p:spPr>
          <a:xfrm>
            <a:off x="4892040" y="1325880"/>
            <a:ext cx="3794760" cy="2125066"/>
          </a:xfrm>
          <a:prstGeom prst="rect">
            <a:avLst/>
          </a:prstGeom>
          <a:noFill/>
          <a:ln>
            <a:noFill/>
          </a:ln>
        </p:spPr>
      </p:pic>
      <p:sp>
        <p:nvSpPr>
          <p:cNvPr id="30" name="Google Shape;30;p1"/>
          <p:cNvSpPr txBox="1"/>
          <p:nvPr>
            <p:ph idx="4294967295" type="sldNum"/>
          </p:nvPr>
        </p:nvSpPr>
        <p:spPr>
          <a:xfrm>
            <a:off x="822960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D84A8"/>
                </a:solidFill>
                <a:latin typeface="Inter"/>
                <a:ea typeface="Inter"/>
                <a:cs typeface="Inter"/>
                <a:sym typeface="Inter"/>
              </a:rPr>
              <a:t>‹#›</a:t>
            </a:fld>
            <a:endParaRPr b="0" i="0" sz="900" u="none" cap="none" strike="noStrike">
              <a:solidFill>
                <a:srgbClr val="7D84A8"/>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2"/>
          <p:cNvSpPr txBox="1"/>
          <p:nvPr/>
        </p:nvSpPr>
        <p:spPr>
          <a:xfrm>
            <a:off x="457200" y="292608"/>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1000"/>
              <a:buFont typeface="Inter"/>
              <a:buNone/>
            </a:pPr>
            <a:r>
              <a:rPr b="1" i="0" lang="en-US" sz="1000" u="none" cap="none" strike="noStrike">
                <a:solidFill>
                  <a:srgbClr val="4F46E5"/>
                </a:solidFill>
                <a:latin typeface="Inter"/>
                <a:ea typeface="Inter"/>
                <a:cs typeface="Inter"/>
                <a:sym typeface="Inter"/>
              </a:rPr>
              <a:t>MEET THE TEAM</a:t>
            </a:r>
            <a:endParaRPr b="0" i="0" sz="1000" u="none" cap="none" strike="noStrike">
              <a:solidFill>
                <a:schemeClr val="dk1"/>
              </a:solidFill>
              <a:latin typeface="Inter"/>
              <a:ea typeface="Inter"/>
              <a:cs typeface="Inter"/>
              <a:sym typeface="Inter"/>
            </a:endParaRPr>
          </a:p>
        </p:txBody>
      </p:sp>
      <p:sp>
        <p:nvSpPr>
          <p:cNvPr id="37" name="Google Shape;37;p2"/>
          <p:cNvSpPr txBox="1"/>
          <p:nvPr/>
        </p:nvSpPr>
        <p:spPr>
          <a:xfrm>
            <a:off x="457200" y="530352"/>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2400"/>
              <a:buFont typeface="Poppins"/>
              <a:buNone/>
            </a:pPr>
            <a:r>
              <a:rPr b="1" i="0" lang="en-US" sz="2400" u="none" cap="none" strike="noStrike">
                <a:solidFill>
                  <a:srgbClr val="1B1E33"/>
                </a:solidFill>
                <a:latin typeface="Poppins"/>
                <a:ea typeface="Poppins"/>
                <a:cs typeface="Poppins"/>
                <a:sym typeface="Poppins"/>
              </a:rPr>
              <a:t>The people behind Research Mate</a:t>
            </a:r>
            <a:endParaRPr b="0" i="0" sz="2400" u="none" cap="none" strike="noStrike">
              <a:solidFill>
                <a:schemeClr val="dk1"/>
              </a:solidFill>
              <a:latin typeface="Inter"/>
              <a:ea typeface="Inter"/>
              <a:cs typeface="Inter"/>
              <a:sym typeface="Inter"/>
            </a:endParaRPr>
          </a:p>
        </p:txBody>
      </p:sp>
      <p:sp>
        <p:nvSpPr>
          <p:cNvPr id="38" name="Google Shape;38;p2"/>
          <p:cNvSpPr/>
          <p:nvPr/>
        </p:nvSpPr>
        <p:spPr>
          <a:xfrm>
            <a:off x="457200" y="1325880"/>
            <a:ext cx="1874520" cy="3200400"/>
          </a:xfrm>
          <a:prstGeom prst="roundRect">
            <a:avLst>
              <a:gd fmla="val 5854"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sers\vardh\AppData\Local\Temp\claude\C--Mayo-Projects-research-co-pilot\ed8aac66-bc68-4af8-a2ce-7ca39eae2bf2\scratchpad\deck\img\atharva.jpg" id="39" name="Google Shape;39;p2"/>
          <p:cNvPicPr preferRelativeResize="0"/>
          <p:nvPr/>
        </p:nvPicPr>
        <p:blipFill rotWithShape="1">
          <a:blip r:embed="rId3">
            <a:alphaModFix/>
          </a:blip>
          <a:srcRect b="0" l="0" r="0" t="0"/>
          <a:stretch/>
        </p:blipFill>
        <p:spPr>
          <a:xfrm>
            <a:off x="731520" y="1554480"/>
            <a:ext cx="1325880" cy="1325880"/>
          </a:xfrm>
          <a:prstGeom prst="ellipse">
            <a:avLst/>
          </a:prstGeom>
          <a:noFill/>
          <a:ln>
            <a:noFill/>
          </a:ln>
        </p:spPr>
      </p:pic>
      <p:sp>
        <p:nvSpPr>
          <p:cNvPr id="40" name="Google Shape;40;p2"/>
          <p:cNvSpPr txBox="1"/>
          <p:nvPr/>
        </p:nvSpPr>
        <p:spPr>
          <a:xfrm>
            <a:off x="548640" y="3017520"/>
            <a:ext cx="1691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E33"/>
              </a:buClr>
              <a:buSzPts val="1500"/>
              <a:buFont typeface="Poppins"/>
              <a:buNone/>
            </a:pPr>
            <a:r>
              <a:rPr b="1" i="0" lang="en-US" sz="1500" u="none" cap="none" strike="noStrike">
                <a:solidFill>
                  <a:srgbClr val="1B1E33"/>
                </a:solidFill>
                <a:latin typeface="Poppins"/>
                <a:ea typeface="Poppins"/>
                <a:cs typeface="Poppins"/>
                <a:sym typeface="Poppins"/>
              </a:rPr>
              <a:t>Atharva</a:t>
            </a:r>
            <a:endParaRPr b="0" i="0" sz="1500" u="none" cap="none" strike="noStrike">
              <a:solidFill>
                <a:schemeClr val="dk1"/>
              </a:solidFill>
              <a:latin typeface="Inter"/>
              <a:ea typeface="Inter"/>
              <a:cs typeface="Inter"/>
              <a:sym typeface="Inter"/>
            </a:endParaRPr>
          </a:p>
        </p:txBody>
      </p:sp>
      <p:sp>
        <p:nvSpPr>
          <p:cNvPr id="41" name="Google Shape;41;p2"/>
          <p:cNvSpPr txBox="1"/>
          <p:nvPr/>
        </p:nvSpPr>
        <p:spPr>
          <a:xfrm>
            <a:off x="548640" y="3337560"/>
            <a:ext cx="1691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46E5"/>
              </a:buClr>
              <a:buSzPts val="1100"/>
              <a:buFont typeface="Inter"/>
              <a:buNone/>
            </a:pPr>
            <a:r>
              <a:rPr b="1" lang="en-US" sz="1100">
                <a:solidFill>
                  <a:srgbClr val="4F46E5"/>
                </a:solidFill>
                <a:latin typeface="Inter"/>
                <a:ea typeface="Inter"/>
                <a:cs typeface="Inter"/>
                <a:sym typeface="Inter"/>
              </a:rPr>
              <a:t>Leader</a:t>
            </a:r>
            <a:endParaRPr b="0" i="0" sz="1100" u="none" cap="none" strike="noStrike">
              <a:solidFill>
                <a:schemeClr val="dk1"/>
              </a:solidFill>
              <a:latin typeface="Inter"/>
              <a:ea typeface="Inter"/>
              <a:cs typeface="Inter"/>
              <a:sym typeface="Inter"/>
            </a:endParaRPr>
          </a:p>
        </p:txBody>
      </p:sp>
      <p:sp>
        <p:nvSpPr>
          <p:cNvPr id="42" name="Google Shape;42;p2"/>
          <p:cNvSpPr txBox="1"/>
          <p:nvPr/>
        </p:nvSpPr>
        <p:spPr>
          <a:xfrm>
            <a:off x="594360" y="3657600"/>
            <a:ext cx="1600200" cy="685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B6078"/>
              </a:buClr>
              <a:buSzPts val="1000"/>
              <a:buFont typeface="Inter"/>
              <a:buNone/>
            </a:pPr>
            <a:r>
              <a:rPr b="0" i="0" lang="en-US" sz="1000" u="none" cap="none" strike="noStrike">
                <a:solidFill>
                  <a:srgbClr val="5B6078"/>
                </a:solidFill>
                <a:latin typeface="Inter"/>
                <a:ea typeface="Inter"/>
                <a:cs typeface="Inter"/>
                <a:sym typeface="Inter"/>
              </a:rPr>
              <a:t>Add one line about what they worked on.</a:t>
            </a:r>
            <a:endParaRPr b="0" i="0" sz="1000" u="none" cap="none" strike="noStrike">
              <a:solidFill>
                <a:schemeClr val="dk1"/>
              </a:solidFill>
              <a:latin typeface="Inter"/>
              <a:ea typeface="Inter"/>
              <a:cs typeface="Inter"/>
              <a:sym typeface="Inter"/>
            </a:endParaRPr>
          </a:p>
        </p:txBody>
      </p:sp>
      <p:sp>
        <p:nvSpPr>
          <p:cNvPr id="43" name="Google Shape;43;p2"/>
          <p:cNvSpPr/>
          <p:nvPr/>
        </p:nvSpPr>
        <p:spPr>
          <a:xfrm>
            <a:off x="2575560" y="1325880"/>
            <a:ext cx="1874520" cy="3200400"/>
          </a:xfrm>
          <a:prstGeom prst="roundRect">
            <a:avLst>
              <a:gd fmla="val 5854"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sers\vardh\AppData\Local\Temp\claude\C--Mayo-Projects-research-co-pilot\ed8aac66-bc68-4af8-a2ce-7ca39eae2bf2\scratchpad\deck\img\kabeer.jpg" id="44" name="Google Shape;44;p2"/>
          <p:cNvPicPr preferRelativeResize="0"/>
          <p:nvPr/>
        </p:nvPicPr>
        <p:blipFill rotWithShape="1">
          <a:blip r:embed="rId4">
            <a:alphaModFix/>
          </a:blip>
          <a:srcRect b="0" l="0" r="0" t="0"/>
          <a:stretch/>
        </p:blipFill>
        <p:spPr>
          <a:xfrm>
            <a:off x="2849880" y="1554480"/>
            <a:ext cx="1325880" cy="1325880"/>
          </a:xfrm>
          <a:prstGeom prst="ellipse">
            <a:avLst/>
          </a:prstGeom>
          <a:noFill/>
          <a:ln>
            <a:noFill/>
          </a:ln>
        </p:spPr>
      </p:pic>
      <p:sp>
        <p:nvSpPr>
          <p:cNvPr id="45" name="Google Shape;45;p2"/>
          <p:cNvSpPr txBox="1"/>
          <p:nvPr/>
        </p:nvSpPr>
        <p:spPr>
          <a:xfrm>
            <a:off x="2667000" y="3017520"/>
            <a:ext cx="1691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E33"/>
              </a:buClr>
              <a:buSzPts val="1500"/>
              <a:buFont typeface="Poppins"/>
              <a:buNone/>
            </a:pPr>
            <a:r>
              <a:rPr b="1" i="0" lang="en-US" sz="1500" u="none" cap="none" strike="noStrike">
                <a:solidFill>
                  <a:srgbClr val="1B1E33"/>
                </a:solidFill>
                <a:latin typeface="Poppins"/>
                <a:ea typeface="Poppins"/>
                <a:cs typeface="Poppins"/>
                <a:sym typeface="Poppins"/>
              </a:rPr>
              <a:t>Kabeer</a:t>
            </a:r>
            <a:endParaRPr b="0" i="0" sz="1500" u="none" cap="none" strike="noStrike">
              <a:solidFill>
                <a:schemeClr val="dk1"/>
              </a:solidFill>
              <a:latin typeface="Inter"/>
              <a:ea typeface="Inter"/>
              <a:cs typeface="Inter"/>
              <a:sym typeface="Inter"/>
            </a:endParaRPr>
          </a:p>
        </p:txBody>
      </p:sp>
      <p:sp>
        <p:nvSpPr>
          <p:cNvPr id="46" name="Google Shape;46;p2"/>
          <p:cNvSpPr txBox="1"/>
          <p:nvPr/>
        </p:nvSpPr>
        <p:spPr>
          <a:xfrm>
            <a:off x="2667000" y="3337560"/>
            <a:ext cx="1691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46E5"/>
              </a:buClr>
              <a:buSzPts val="1100"/>
              <a:buFont typeface="Inter"/>
              <a:buNone/>
            </a:pPr>
            <a:r>
              <a:rPr b="1" lang="en-US" sz="1100">
                <a:solidFill>
                  <a:srgbClr val="4F46E5"/>
                </a:solidFill>
                <a:latin typeface="Inter"/>
                <a:ea typeface="Inter"/>
                <a:cs typeface="Inter"/>
                <a:sym typeface="Inter"/>
              </a:rPr>
              <a:t>Researcher</a:t>
            </a:r>
            <a:endParaRPr b="0" i="0" sz="1100" u="none" cap="none" strike="noStrike">
              <a:solidFill>
                <a:schemeClr val="dk1"/>
              </a:solidFill>
              <a:latin typeface="Inter"/>
              <a:ea typeface="Inter"/>
              <a:cs typeface="Inter"/>
              <a:sym typeface="Inter"/>
            </a:endParaRPr>
          </a:p>
        </p:txBody>
      </p:sp>
      <p:sp>
        <p:nvSpPr>
          <p:cNvPr id="47" name="Google Shape;47;p2"/>
          <p:cNvSpPr txBox="1"/>
          <p:nvPr/>
        </p:nvSpPr>
        <p:spPr>
          <a:xfrm>
            <a:off x="2712720" y="3657600"/>
            <a:ext cx="1600200" cy="685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B6078"/>
              </a:buClr>
              <a:buSzPts val="1000"/>
              <a:buFont typeface="Inter"/>
              <a:buNone/>
            </a:pPr>
            <a:r>
              <a:rPr b="0" i="0" lang="en-US" sz="1000" u="none" cap="none" strike="noStrike">
                <a:solidFill>
                  <a:srgbClr val="5B6078"/>
                </a:solidFill>
                <a:latin typeface="Inter"/>
                <a:ea typeface="Inter"/>
                <a:cs typeface="Inter"/>
                <a:sym typeface="Inter"/>
              </a:rPr>
              <a:t>Add one line about what they worked on.</a:t>
            </a:r>
            <a:endParaRPr b="0" i="0" sz="1000" u="none" cap="none" strike="noStrike">
              <a:solidFill>
                <a:schemeClr val="dk1"/>
              </a:solidFill>
              <a:latin typeface="Inter"/>
              <a:ea typeface="Inter"/>
              <a:cs typeface="Inter"/>
              <a:sym typeface="Inter"/>
            </a:endParaRPr>
          </a:p>
        </p:txBody>
      </p:sp>
      <p:sp>
        <p:nvSpPr>
          <p:cNvPr id="48" name="Google Shape;48;p2"/>
          <p:cNvSpPr/>
          <p:nvPr/>
        </p:nvSpPr>
        <p:spPr>
          <a:xfrm>
            <a:off x="4693920" y="1325880"/>
            <a:ext cx="1874520" cy="3200400"/>
          </a:xfrm>
          <a:prstGeom prst="roundRect">
            <a:avLst>
              <a:gd fmla="val 5854"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sers\vardh\AppData\Local\Temp\claude\C--Mayo-Projects-research-co-pilot\ed8aac66-bc68-4af8-a2ce-7ca39eae2bf2\scratchpad\deck\img\raj.jpg" id="49" name="Google Shape;49;p2"/>
          <p:cNvPicPr preferRelativeResize="0"/>
          <p:nvPr/>
        </p:nvPicPr>
        <p:blipFill rotWithShape="1">
          <a:blip r:embed="rId5">
            <a:alphaModFix/>
          </a:blip>
          <a:srcRect b="0" l="0" r="0" t="0"/>
          <a:stretch/>
        </p:blipFill>
        <p:spPr>
          <a:xfrm>
            <a:off x="4968240" y="1554480"/>
            <a:ext cx="1326000" cy="1326000"/>
          </a:xfrm>
          <a:prstGeom prst="ellipse">
            <a:avLst/>
          </a:prstGeom>
          <a:noFill/>
          <a:ln>
            <a:noFill/>
          </a:ln>
        </p:spPr>
      </p:pic>
      <p:sp>
        <p:nvSpPr>
          <p:cNvPr id="50" name="Google Shape;50;p2"/>
          <p:cNvSpPr txBox="1"/>
          <p:nvPr/>
        </p:nvSpPr>
        <p:spPr>
          <a:xfrm>
            <a:off x="4785360" y="3017520"/>
            <a:ext cx="1691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E33"/>
              </a:buClr>
              <a:buSzPts val="1500"/>
              <a:buFont typeface="Poppins"/>
              <a:buNone/>
            </a:pPr>
            <a:r>
              <a:rPr b="1" i="0" lang="en-US" sz="1500" u="none" cap="none" strike="noStrike">
                <a:solidFill>
                  <a:srgbClr val="1B1E33"/>
                </a:solidFill>
                <a:latin typeface="Poppins"/>
                <a:ea typeface="Poppins"/>
                <a:cs typeface="Poppins"/>
                <a:sym typeface="Poppins"/>
              </a:rPr>
              <a:t>Raj Shrestha</a:t>
            </a:r>
            <a:endParaRPr b="0" i="0" sz="1500" u="none" cap="none" strike="noStrike">
              <a:solidFill>
                <a:schemeClr val="dk1"/>
              </a:solidFill>
              <a:latin typeface="Inter"/>
              <a:ea typeface="Inter"/>
              <a:cs typeface="Inter"/>
              <a:sym typeface="Inter"/>
            </a:endParaRPr>
          </a:p>
        </p:txBody>
      </p:sp>
      <p:sp>
        <p:nvSpPr>
          <p:cNvPr id="51" name="Google Shape;51;p2"/>
          <p:cNvSpPr txBox="1"/>
          <p:nvPr/>
        </p:nvSpPr>
        <p:spPr>
          <a:xfrm>
            <a:off x="4785360" y="3337560"/>
            <a:ext cx="1691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46E5"/>
              </a:buClr>
              <a:buSzPts val="1100"/>
              <a:buFont typeface="Inter"/>
              <a:buNone/>
            </a:pPr>
            <a:r>
              <a:rPr b="1" lang="en-US" sz="1100">
                <a:solidFill>
                  <a:srgbClr val="4F46E5"/>
                </a:solidFill>
                <a:latin typeface="Inter"/>
                <a:ea typeface="Inter"/>
                <a:cs typeface="Inter"/>
                <a:sym typeface="Inter"/>
              </a:rPr>
              <a:t>Designer</a:t>
            </a:r>
            <a:endParaRPr b="0" i="0" sz="1100" u="none" cap="none" strike="noStrike">
              <a:solidFill>
                <a:schemeClr val="dk1"/>
              </a:solidFill>
              <a:latin typeface="Inter"/>
              <a:ea typeface="Inter"/>
              <a:cs typeface="Inter"/>
              <a:sym typeface="Inter"/>
            </a:endParaRPr>
          </a:p>
        </p:txBody>
      </p:sp>
      <p:sp>
        <p:nvSpPr>
          <p:cNvPr id="52" name="Google Shape;52;p2"/>
          <p:cNvSpPr txBox="1"/>
          <p:nvPr/>
        </p:nvSpPr>
        <p:spPr>
          <a:xfrm>
            <a:off x="4831080" y="3657600"/>
            <a:ext cx="1600200" cy="685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B6078"/>
              </a:buClr>
              <a:buSzPts val="1000"/>
              <a:buFont typeface="Inter"/>
              <a:buNone/>
            </a:pPr>
            <a:r>
              <a:rPr b="0" i="0" lang="en-US" sz="1000" u="none" cap="none" strike="noStrike">
                <a:solidFill>
                  <a:srgbClr val="5B6078"/>
                </a:solidFill>
                <a:latin typeface="Inter"/>
                <a:ea typeface="Inter"/>
                <a:cs typeface="Inter"/>
                <a:sym typeface="Inter"/>
              </a:rPr>
              <a:t>Add one line about what they worked on.</a:t>
            </a:r>
            <a:endParaRPr b="0" i="0" sz="1000" u="none" cap="none" strike="noStrike">
              <a:solidFill>
                <a:schemeClr val="dk1"/>
              </a:solidFill>
              <a:latin typeface="Inter"/>
              <a:ea typeface="Inter"/>
              <a:cs typeface="Inter"/>
              <a:sym typeface="Inter"/>
            </a:endParaRPr>
          </a:p>
        </p:txBody>
      </p:sp>
      <p:sp>
        <p:nvSpPr>
          <p:cNvPr id="53" name="Google Shape;53;p2"/>
          <p:cNvSpPr/>
          <p:nvPr/>
        </p:nvSpPr>
        <p:spPr>
          <a:xfrm>
            <a:off x="6812280" y="1325880"/>
            <a:ext cx="1874520" cy="3200400"/>
          </a:xfrm>
          <a:prstGeom prst="roundRect">
            <a:avLst>
              <a:gd fmla="val 5854"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sers\vardh\AppData\Local\Temp\claude\C--Mayo-Projects-research-co-pilot\ed8aac66-bc68-4af8-a2ce-7ca39eae2bf2\scratchpad\deck\img\raghubir.jpg" id="54" name="Google Shape;54;p2"/>
          <p:cNvPicPr preferRelativeResize="0"/>
          <p:nvPr/>
        </p:nvPicPr>
        <p:blipFill rotWithShape="1">
          <a:blip r:embed="rId6">
            <a:alphaModFix/>
          </a:blip>
          <a:srcRect b="0" l="0" r="0" t="0"/>
          <a:stretch/>
        </p:blipFill>
        <p:spPr>
          <a:xfrm>
            <a:off x="7086600" y="1554480"/>
            <a:ext cx="1325880" cy="1325880"/>
          </a:xfrm>
          <a:prstGeom prst="ellipse">
            <a:avLst/>
          </a:prstGeom>
          <a:noFill/>
          <a:ln>
            <a:noFill/>
          </a:ln>
        </p:spPr>
      </p:pic>
      <p:sp>
        <p:nvSpPr>
          <p:cNvPr id="55" name="Google Shape;55;p2"/>
          <p:cNvSpPr txBox="1"/>
          <p:nvPr/>
        </p:nvSpPr>
        <p:spPr>
          <a:xfrm>
            <a:off x="6903720" y="3017520"/>
            <a:ext cx="16916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E33"/>
              </a:buClr>
              <a:buSzPts val="1500"/>
              <a:buFont typeface="Poppins"/>
              <a:buNone/>
            </a:pPr>
            <a:r>
              <a:rPr b="1" i="0" lang="en-US" sz="1500" u="none" cap="none" strike="noStrike">
                <a:solidFill>
                  <a:srgbClr val="1B1E33"/>
                </a:solidFill>
                <a:latin typeface="Poppins"/>
                <a:ea typeface="Poppins"/>
                <a:cs typeface="Poppins"/>
                <a:sym typeface="Poppins"/>
              </a:rPr>
              <a:t>Raghubir</a:t>
            </a:r>
            <a:endParaRPr b="0" i="0" sz="1500" u="none" cap="none" strike="noStrike">
              <a:solidFill>
                <a:schemeClr val="dk1"/>
              </a:solidFill>
              <a:latin typeface="Inter"/>
              <a:ea typeface="Inter"/>
              <a:cs typeface="Inter"/>
              <a:sym typeface="Inter"/>
            </a:endParaRPr>
          </a:p>
        </p:txBody>
      </p:sp>
      <p:sp>
        <p:nvSpPr>
          <p:cNvPr id="56" name="Google Shape;56;p2"/>
          <p:cNvSpPr txBox="1"/>
          <p:nvPr/>
        </p:nvSpPr>
        <p:spPr>
          <a:xfrm>
            <a:off x="6903720" y="3337560"/>
            <a:ext cx="16916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46E5"/>
              </a:buClr>
              <a:buSzPts val="1100"/>
              <a:buFont typeface="Inter"/>
              <a:buNone/>
            </a:pPr>
            <a:r>
              <a:rPr b="1" lang="en-US" sz="1100">
                <a:solidFill>
                  <a:srgbClr val="4F46E5"/>
                </a:solidFill>
                <a:latin typeface="Inter"/>
                <a:ea typeface="Inter"/>
                <a:cs typeface="Inter"/>
                <a:sym typeface="Inter"/>
              </a:rPr>
              <a:t>Tester</a:t>
            </a:r>
            <a:endParaRPr b="0" i="0" sz="1100" u="none" cap="none" strike="noStrike">
              <a:solidFill>
                <a:schemeClr val="dk1"/>
              </a:solidFill>
              <a:latin typeface="Inter"/>
              <a:ea typeface="Inter"/>
              <a:cs typeface="Inter"/>
              <a:sym typeface="Inter"/>
            </a:endParaRPr>
          </a:p>
        </p:txBody>
      </p:sp>
      <p:sp>
        <p:nvSpPr>
          <p:cNvPr id="57" name="Google Shape;57;p2"/>
          <p:cNvSpPr txBox="1"/>
          <p:nvPr/>
        </p:nvSpPr>
        <p:spPr>
          <a:xfrm>
            <a:off x="6949440" y="3657600"/>
            <a:ext cx="1600200" cy="685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B6078"/>
              </a:buClr>
              <a:buSzPts val="1000"/>
              <a:buFont typeface="Inter"/>
              <a:buNone/>
            </a:pPr>
            <a:r>
              <a:rPr b="0" i="0" lang="en-US" sz="1000" u="none" cap="none" strike="noStrike">
                <a:solidFill>
                  <a:srgbClr val="5B6078"/>
                </a:solidFill>
                <a:latin typeface="Inter"/>
                <a:ea typeface="Inter"/>
                <a:cs typeface="Inter"/>
                <a:sym typeface="Inter"/>
              </a:rPr>
              <a:t>Add one line about what they worked on.</a:t>
            </a:r>
            <a:endParaRPr b="0" i="0" sz="1000" u="none" cap="none" strike="noStrike">
              <a:solidFill>
                <a:schemeClr val="dk1"/>
              </a:solidFill>
              <a:latin typeface="Inter"/>
              <a:ea typeface="Inter"/>
              <a:cs typeface="Inter"/>
              <a:sym typeface="Inter"/>
            </a:endParaRPr>
          </a:p>
        </p:txBody>
      </p:sp>
      <p:sp>
        <p:nvSpPr>
          <p:cNvPr id="58" name="Google Shape;58;p2"/>
          <p:cNvSpPr txBox="1"/>
          <p:nvPr>
            <p:ph idx="4294967295" type="sldNum"/>
          </p:nvPr>
        </p:nvSpPr>
        <p:spPr>
          <a:xfrm>
            <a:off x="822960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FA8"/>
                </a:solidFill>
                <a:latin typeface="Inter"/>
                <a:ea typeface="Inter"/>
                <a:cs typeface="Inter"/>
                <a:sym typeface="Inter"/>
              </a:rPr>
              <a:t>‹#›</a:t>
            </a:fld>
            <a:endParaRPr b="0" i="0" sz="900" u="none" cap="none" strike="noStrike">
              <a:solidFill>
                <a:srgbClr val="8A8FA8"/>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3"/>
          <p:cNvSpPr txBox="1"/>
          <p:nvPr/>
        </p:nvSpPr>
        <p:spPr>
          <a:xfrm>
            <a:off x="457200" y="292608"/>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1000"/>
              <a:buFont typeface="Inter"/>
              <a:buNone/>
            </a:pPr>
            <a:r>
              <a:rPr b="1" i="0" lang="en-US" sz="1000" u="none" cap="none" strike="noStrike">
                <a:solidFill>
                  <a:srgbClr val="4F46E5"/>
                </a:solidFill>
                <a:latin typeface="Inter"/>
                <a:ea typeface="Inter"/>
                <a:cs typeface="Inter"/>
                <a:sym typeface="Inter"/>
              </a:rPr>
              <a:t>1 · PROBLEM STATEMENT</a:t>
            </a:r>
            <a:endParaRPr b="0" i="0" sz="1000" u="none" cap="none" strike="noStrike">
              <a:solidFill>
                <a:schemeClr val="dk1"/>
              </a:solidFill>
              <a:latin typeface="Inter"/>
              <a:ea typeface="Inter"/>
              <a:cs typeface="Inter"/>
              <a:sym typeface="Inter"/>
            </a:endParaRPr>
          </a:p>
        </p:txBody>
      </p:sp>
      <p:sp>
        <p:nvSpPr>
          <p:cNvPr id="65" name="Google Shape;65;p3"/>
          <p:cNvSpPr txBox="1"/>
          <p:nvPr/>
        </p:nvSpPr>
        <p:spPr>
          <a:xfrm>
            <a:off x="457200" y="530352"/>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2400"/>
              <a:buFont typeface="Poppins"/>
              <a:buNone/>
            </a:pPr>
            <a:r>
              <a:rPr b="1" i="0" lang="en-US" sz="2400" u="none" cap="none" strike="noStrike">
                <a:solidFill>
                  <a:srgbClr val="1B1E33"/>
                </a:solidFill>
                <a:latin typeface="Poppins"/>
                <a:ea typeface="Poppins"/>
                <a:cs typeface="Poppins"/>
                <a:sym typeface="Poppins"/>
              </a:rPr>
              <a:t>Great ideas, but no idea where to start</a:t>
            </a:r>
            <a:endParaRPr b="0" i="0" sz="2400" u="none" cap="none" strike="noStrike">
              <a:solidFill>
                <a:schemeClr val="dk1"/>
              </a:solidFill>
              <a:latin typeface="Inter"/>
              <a:ea typeface="Inter"/>
              <a:cs typeface="Inter"/>
              <a:sym typeface="Inter"/>
            </a:endParaRPr>
          </a:p>
        </p:txBody>
      </p:sp>
      <p:sp>
        <p:nvSpPr>
          <p:cNvPr id="66" name="Google Shape;66;p3"/>
          <p:cNvSpPr txBox="1"/>
          <p:nvPr/>
        </p:nvSpPr>
        <p:spPr>
          <a:xfrm>
            <a:off x="457200" y="109728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078"/>
              </a:buClr>
              <a:buSzPts val="1300"/>
              <a:buFont typeface="Inter"/>
              <a:buNone/>
            </a:pPr>
            <a:r>
              <a:rPr b="0" i="0" lang="en-US" sz="1300" u="none" cap="none" strike="noStrike">
                <a:solidFill>
                  <a:srgbClr val="5B6078"/>
                </a:solidFill>
                <a:latin typeface="Inter"/>
                <a:ea typeface="Inter"/>
                <a:cs typeface="Inter"/>
                <a:sym typeface="Inter"/>
              </a:rPr>
              <a:t>Students have marvellous ideas, yet research feels confusing and lonely.</a:t>
            </a:r>
            <a:endParaRPr b="0" i="0" sz="1300" u="none" cap="none" strike="noStrike">
              <a:solidFill>
                <a:schemeClr val="dk1"/>
              </a:solidFill>
              <a:latin typeface="Inter"/>
              <a:ea typeface="Inter"/>
              <a:cs typeface="Inter"/>
              <a:sym typeface="Inter"/>
            </a:endParaRPr>
          </a:p>
        </p:txBody>
      </p:sp>
      <p:sp>
        <p:nvSpPr>
          <p:cNvPr id="67" name="Google Shape;67;p3"/>
          <p:cNvSpPr/>
          <p:nvPr/>
        </p:nvSpPr>
        <p:spPr>
          <a:xfrm>
            <a:off x="457200" y="1691640"/>
            <a:ext cx="2560320" cy="2697480"/>
          </a:xfrm>
          <a:prstGeom prst="roundRect">
            <a:avLst>
              <a:gd fmla="val 4286"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731520" y="1965960"/>
            <a:ext cx="548640" cy="54864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9" name="Google Shape;69;p3"/>
          <p:cNvPicPr preferRelativeResize="0"/>
          <p:nvPr/>
        </p:nvPicPr>
        <p:blipFill rotWithShape="1">
          <a:blip r:embed="rId3">
            <a:alphaModFix/>
          </a:blip>
          <a:srcRect b="0" l="0" r="0" t="0"/>
          <a:stretch/>
        </p:blipFill>
        <p:spPr>
          <a:xfrm>
            <a:off x="852221" y="2086661"/>
            <a:ext cx="307238" cy="307238"/>
          </a:xfrm>
          <a:prstGeom prst="rect">
            <a:avLst/>
          </a:prstGeom>
          <a:noFill/>
          <a:ln>
            <a:noFill/>
          </a:ln>
        </p:spPr>
      </p:pic>
      <p:sp>
        <p:nvSpPr>
          <p:cNvPr id="70" name="Google Shape;70;p3"/>
          <p:cNvSpPr txBox="1"/>
          <p:nvPr/>
        </p:nvSpPr>
        <p:spPr>
          <a:xfrm>
            <a:off x="731520" y="2697480"/>
            <a:ext cx="201168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500"/>
              <a:buFont typeface="Poppins"/>
              <a:buNone/>
            </a:pPr>
            <a:r>
              <a:rPr b="1" i="0" lang="en-US" sz="1500" u="none" cap="none" strike="noStrike">
                <a:solidFill>
                  <a:srgbClr val="1B1E33"/>
                </a:solidFill>
                <a:latin typeface="Poppins"/>
                <a:ea typeface="Poppins"/>
                <a:cs typeface="Poppins"/>
                <a:sym typeface="Poppins"/>
              </a:rPr>
              <a:t>Where do I even begin?</a:t>
            </a:r>
            <a:endParaRPr b="0" i="0" sz="1500" u="none" cap="none" strike="noStrike">
              <a:solidFill>
                <a:schemeClr val="dk1"/>
              </a:solidFill>
              <a:latin typeface="Inter"/>
              <a:ea typeface="Inter"/>
              <a:cs typeface="Inter"/>
              <a:sym typeface="Inter"/>
            </a:endParaRPr>
          </a:p>
          <a:p>
            <a:pPr indent="0" lvl="0" marL="0" marR="0" rtl="0" algn="l">
              <a:spcBef>
                <a:spcPts val="600"/>
              </a:spcBef>
              <a:spcAft>
                <a:spcPts val="0"/>
              </a:spcAft>
              <a:buClr>
                <a:srgbClr val="5B6078"/>
              </a:buClr>
              <a:buSzPts val="1200"/>
              <a:buFont typeface="Inter"/>
              <a:buNone/>
            </a:pPr>
            <a:r>
              <a:rPr b="0" i="0" lang="en-US" sz="1200" u="none" cap="none" strike="noStrike">
                <a:solidFill>
                  <a:srgbClr val="5B6078"/>
                </a:solidFill>
                <a:latin typeface="Inter"/>
                <a:ea typeface="Inter"/>
                <a:cs typeface="Inter"/>
                <a:sym typeface="Inter"/>
              </a:rPr>
              <a:t>Turning a big idea into a clear research question is the hardest first step.</a:t>
            </a:r>
            <a:endParaRPr b="0" i="0" sz="1500" u="none" cap="none" strike="noStrike">
              <a:solidFill>
                <a:schemeClr val="dk1"/>
              </a:solidFill>
              <a:latin typeface="Inter"/>
              <a:ea typeface="Inter"/>
              <a:cs typeface="Inter"/>
              <a:sym typeface="Inter"/>
            </a:endParaRPr>
          </a:p>
        </p:txBody>
      </p:sp>
      <p:sp>
        <p:nvSpPr>
          <p:cNvPr id="71" name="Google Shape;71;p3"/>
          <p:cNvSpPr/>
          <p:nvPr/>
        </p:nvSpPr>
        <p:spPr>
          <a:xfrm>
            <a:off x="3291840" y="1691640"/>
            <a:ext cx="2560320" cy="2697480"/>
          </a:xfrm>
          <a:prstGeom prst="roundRect">
            <a:avLst>
              <a:gd fmla="val 4286"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3566160" y="1965960"/>
            <a:ext cx="548640" cy="54864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3" name="Google Shape;73;p3"/>
          <p:cNvPicPr preferRelativeResize="0"/>
          <p:nvPr/>
        </p:nvPicPr>
        <p:blipFill rotWithShape="1">
          <a:blip r:embed="rId4">
            <a:alphaModFix/>
          </a:blip>
          <a:srcRect b="0" l="0" r="0" t="0"/>
          <a:stretch/>
        </p:blipFill>
        <p:spPr>
          <a:xfrm>
            <a:off x="3686861" y="2086661"/>
            <a:ext cx="307238" cy="307238"/>
          </a:xfrm>
          <a:prstGeom prst="rect">
            <a:avLst/>
          </a:prstGeom>
          <a:noFill/>
          <a:ln>
            <a:noFill/>
          </a:ln>
        </p:spPr>
      </p:pic>
      <p:sp>
        <p:nvSpPr>
          <p:cNvPr id="74" name="Google Shape;74;p3"/>
          <p:cNvSpPr txBox="1"/>
          <p:nvPr/>
        </p:nvSpPr>
        <p:spPr>
          <a:xfrm>
            <a:off x="3566160" y="2697480"/>
            <a:ext cx="201168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500"/>
              <a:buFont typeface="Poppins"/>
              <a:buNone/>
            </a:pPr>
            <a:r>
              <a:rPr b="1" i="0" lang="en-US" sz="1500" u="none" cap="none" strike="noStrike">
                <a:solidFill>
                  <a:srgbClr val="1B1E33"/>
                </a:solidFill>
                <a:latin typeface="Poppins"/>
                <a:ea typeface="Poppins"/>
                <a:cs typeface="Poppins"/>
                <a:sym typeface="Poppins"/>
              </a:rPr>
              <a:t>Information is everywhere</a:t>
            </a:r>
            <a:endParaRPr b="0" i="0" sz="1500" u="none" cap="none" strike="noStrike">
              <a:solidFill>
                <a:schemeClr val="dk1"/>
              </a:solidFill>
              <a:latin typeface="Inter"/>
              <a:ea typeface="Inter"/>
              <a:cs typeface="Inter"/>
              <a:sym typeface="Inter"/>
            </a:endParaRPr>
          </a:p>
          <a:p>
            <a:pPr indent="0" lvl="0" marL="0" marR="0" rtl="0" algn="l">
              <a:spcBef>
                <a:spcPts val="600"/>
              </a:spcBef>
              <a:spcAft>
                <a:spcPts val="0"/>
              </a:spcAft>
              <a:buClr>
                <a:srgbClr val="5B6078"/>
              </a:buClr>
              <a:buSzPts val="1200"/>
              <a:buFont typeface="Inter"/>
              <a:buNone/>
            </a:pPr>
            <a:r>
              <a:rPr b="0" i="0" lang="en-US" sz="1200" u="none" cap="none" strike="noStrike">
                <a:solidFill>
                  <a:srgbClr val="5B6078"/>
                </a:solidFill>
                <a:latin typeface="Inter"/>
                <a:ea typeface="Inter"/>
                <a:cs typeface="Inter"/>
                <a:sym typeface="Inter"/>
              </a:rPr>
              <a:t>Facts are scattered across many websites and papers, and not all of them can be trusted.</a:t>
            </a:r>
            <a:endParaRPr b="0" i="0" sz="1500" u="none" cap="none" strike="noStrike">
              <a:solidFill>
                <a:schemeClr val="dk1"/>
              </a:solidFill>
              <a:latin typeface="Inter"/>
              <a:ea typeface="Inter"/>
              <a:cs typeface="Inter"/>
              <a:sym typeface="Inter"/>
            </a:endParaRPr>
          </a:p>
        </p:txBody>
      </p:sp>
      <p:sp>
        <p:nvSpPr>
          <p:cNvPr id="75" name="Google Shape;75;p3"/>
          <p:cNvSpPr/>
          <p:nvPr/>
        </p:nvSpPr>
        <p:spPr>
          <a:xfrm>
            <a:off x="6126480" y="1691640"/>
            <a:ext cx="2560320" cy="2697480"/>
          </a:xfrm>
          <a:prstGeom prst="roundRect">
            <a:avLst>
              <a:gd fmla="val 4286"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6400800" y="1965960"/>
            <a:ext cx="548640" cy="54864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7" name="Google Shape;77;p3"/>
          <p:cNvPicPr preferRelativeResize="0"/>
          <p:nvPr/>
        </p:nvPicPr>
        <p:blipFill rotWithShape="1">
          <a:blip r:embed="rId5">
            <a:alphaModFix/>
          </a:blip>
          <a:srcRect b="0" l="0" r="0" t="0"/>
          <a:stretch/>
        </p:blipFill>
        <p:spPr>
          <a:xfrm>
            <a:off x="6521501" y="2086661"/>
            <a:ext cx="307238" cy="307238"/>
          </a:xfrm>
          <a:prstGeom prst="rect">
            <a:avLst/>
          </a:prstGeom>
          <a:noFill/>
          <a:ln>
            <a:noFill/>
          </a:ln>
        </p:spPr>
      </p:pic>
      <p:sp>
        <p:nvSpPr>
          <p:cNvPr id="78" name="Google Shape;78;p3"/>
          <p:cNvSpPr txBox="1"/>
          <p:nvPr/>
        </p:nvSpPr>
        <p:spPr>
          <a:xfrm>
            <a:off x="6400800" y="2697480"/>
            <a:ext cx="201168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500"/>
              <a:buFont typeface="Poppins"/>
              <a:buNone/>
            </a:pPr>
            <a:r>
              <a:rPr b="1" i="0" lang="en-US" sz="1500" u="none" cap="none" strike="noStrike">
                <a:solidFill>
                  <a:srgbClr val="1B1E33"/>
                </a:solidFill>
                <a:latin typeface="Poppins"/>
                <a:ea typeface="Poppins"/>
                <a:cs typeface="Poppins"/>
                <a:sym typeface="Poppins"/>
              </a:rPr>
              <a:t>No expert to ask</a:t>
            </a:r>
            <a:endParaRPr b="0" i="0" sz="1500" u="none" cap="none" strike="noStrike">
              <a:solidFill>
                <a:schemeClr val="dk1"/>
              </a:solidFill>
              <a:latin typeface="Inter"/>
              <a:ea typeface="Inter"/>
              <a:cs typeface="Inter"/>
              <a:sym typeface="Inter"/>
            </a:endParaRPr>
          </a:p>
          <a:p>
            <a:pPr indent="0" lvl="0" marL="0" marR="0" rtl="0" algn="l">
              <a:spcBef>
                <a:spcPts val="600"/>
              </a:spcBef>
              <a:spcAft>
                <a:spcPts val="0"/>
              </a:spcAft>
              <a:buClr>
                <a:srgbClr val="5B6078"/>
              </a:buClr>
              <a:buSzPts val="1200"/>
              <a:buFont typeface="Inter"/>
              <a:buNone/>
            </a:pPr>
            <a:r>
              <a:rPr b="0" i="0" lang="en-US" sz="1200" u="none" cap="none" strike="noStrike">
                <a:solidFill>
                  <a:srgbClr val="5B6078"/>
                </a:solidFill>
                <a:latin typeface="Inter"/>
                <a:ea typeface="Inter"/>
                <a:cs typeface="Inter"/>
                <a:sym typeface="Inter"/>
              </a:rPr>
              <a:t>Most students don't have a researcher or mentor to guide them step by step.</a:t>
            </a:r>
            <a:endParaRPr b="0" i="0" sz="1500" u="none" cap="none" strike="noStrike">
              <a:solidFill>
                <a:schemeClr val="dk1"/>
              </a:solidFill>
              <a:latin typeface="Inter"/>
              <a:ea typeface="Inter"/>
              <a:cs typeface="Inter"/>
              <a:sym typeface="Inter"/>
            </a:endParaRPr>
          </a:p>
        </p:txBody>
      </p:sp>
      <p:sp>
        <p:nvSpPr>
          <p:cNvPr id="79" name="Google Shape;79;p3"/>
          <p:cNvSpPr txBox="1"/>
          <p:nvPr>
            <p:ph idx="4294967295" type="sldNum"/>
          </p:nvPr>
        </p:nvSpPr>
        <p:spPr>
          <a:xfrm>
            <a:off x="822960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FA8"/>
                </a:solidFill>
                <a:latin typeface="Inter"/>
                <a:ea typeface="Inter"/>
                <a:cs typeface="Inter"/>
                <a:sym typeface="Inter"/>
              </a:rPr>
              <a:t>‹#›</a:t>
            </a:fld>
            <a:endParaRPr b="0" i="0" sz="900" u="none" cap="none" strike="noStrike">
              <a:solidFill>
                <a:srgbClr val="8A8FA8"/>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4"/>
          <p:cNvSpPr txBox="1"/>
          <p:nvPr/>
        </p:nvSpPr>
        <p:spPr>
          <a:xfrm>
            <a:off x="457200" y="292608"/>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E635"/>
              </a:buClr>
              <a:buSzPts val="1000"/>
              <a:buFont typeface="Inter"/>
              <a:buNone/>
            </a:pPr>
            <a:r>
              <a:rPr b="1" i="0" lang="en-US" sz="1000" u="none" cap="none" strike="noStrike">
                <a:solidFill>
                  <a:srgbClr val="A3E635"/>
                </a:solidFill>
                <a:latin typeface="Inter"/>
                <a:ea typeface="Inter"/>
                <a:cs typeface="Inter"/>
                <a:sym typeface="Inter"/>
              </a:rPr>
              <a:t>2 · STATISTICS</a:t>
            </a:r>
            <a:endParaRPr b="0" i="0" sz="1000" u="none" cap="none" strike="noStrike">
              <a:solidFill>
                <a:schemeClr val="dk1"/>
              </a:solidFill>
              <a:latin typeface="Inter"/>
              <a:ea typeface="Inter"/>
              <a:cs typeface="Inter"/>
              <a:sym typeface="Inter"/>
            </a:endParaRPr>
          </a:p>
        </p:txBody>
      </p:sp>
      <p:sp>
        <p:nvSpPr>
          <p:cNvPr id="86" name="Google Shape;86;p4"/>
          <p:cNvSpPr txBox="1"/>
          <p:nvPr/>
        </p:nvSpPr>
        <p:spPr>
          <a:xfrm>
            <a:off x="457200" y="530352"/>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400"/>
              <a:buFont typeface="Poppins"/>
              <a:buNone/>
            </a:pPr>
            <a:r>
              <a:rPr b="1" i="0" lang="en-US" sz="2400" u="none" cap="none" strike="noStrike">
                <a:solidFill>
                  <a:srgbClr val="FFFFFF"/>
                </a:solidFill>
                <a:latin typeface="Poppins"/>
                <a:ea typeface="Poppins"/>
                <a:cs typeface="Poppins"/>
                <a:sym typeface="Poppins"/>
              </a:rPr>
              <a:t>The gap in numbers</a:t>
            </a:r>
            <a:endParaRPr b="0" i="0" sz="2400" u="none" cap="none" strike="noStrike">
              <a:solidFill>
                <a:schemeClr val="dk1"/>
              </a:solidFill>
              <a:latin typeface="Inter"/>
              <a:ea typeface="Inter"/>
              <a:cs typeface="Inter"/>
              <a:sym typeface="Inter"/>
            </a:endParaRPr>
          </a:p>
        </p:txBody>
      </p:sp>
      <p:sp>
        <p:nvSpPr>
          <p:cNvPr id="87" name="Google Shape;87;p4"/>
          <p:cNvSpPr/>
          <p:nvPr/>
        </p:nvSpPr>
        <p:spPr>
          <a:xfrm>
            <a:off x="457200" y="1371600"/>
            <a:ext cx="2560320" cy="2880360"/>
          </a:xfrm>
          <a:prstGeom prst="roundRect">
            <a:avLst>
              <a:gd fmla="val 4286" name="adj"/>
            </a:avLst>
          </a:prstGeom>
          <a:solidFill>
            <a:srgbClr val="1E2238"/>
          </a:solidFill>
          <a:ln cap="flat" cmpd="sng" w="9525">
            <a:solidFill>
              <a:srgbClr val="1E2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txBox="1"/>
          <p:nvPr/>
        </p:nvSpPr>
        <p:spPr>
          <a:xfrm>
            <a:off x="731520" y="1600200"/>
            <a:ext cx="20116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E635"/>
              </a:buClr>
              <a:buSzPts val="4400"/>
              <a:buFont typeface="Poppins"/>
              <a:buNone/>
            </a:pPr>
            <a:r>
              <a:rPr b="1" i="0" lang="en-US" sz="4400" u="none" cap="none" strike="noStrike">
                <a:solidFill>
                  <a:srgbClr val="A3E635"/>
                </a:solidFill>
                <a:latin typeface="Poppins"/>
                <a:ea typeface="Poppins"/>
                <a:cs typeface="Poppins"/>
                <a:sym typeface="Poppins"/>
              </a:rPr>
              <a:t>9%</a:t>
            </a:r>
            <a:endParaRPr b="0" i="0" sz="4400" u="none" cap="none" strike="noStrike">
              <a:solidFill>
                <a:schemeClr val="dk1"/>
              </a:solidFill>
              <a:latin typeface="Inter"/>
              <a:ea typeface="Inter"/>
              <a:cs typeface="Inter"/>
              <a:sym typeface="Inter"/>
            </a:endParaRPr>
          </a:p>
        </p:txBody>
      </p:sp>
      <p:sp>
        <p:nvSpPr>
          <p:cNvPr id="89" name="Google Shape;89;p4"/>
          <p:cNvSpPr txBox="1"/>
          <p:nvPr/>
        </p:nvSpPr>
        <p:spPr>
          <a:xfrm>
            <a:off x="731520" y="2560320"/>
            <a:ext cx="2011680" cy="1051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4E6F5"/>
              </a:buClr>
              <a:buSzPts val="1200"/>
              <a:buFont typeface="Inter"/>
              <a:buNone/>
            </a:pPr>
            <a:r>
              <a:rPr b="0" i="0" lang="en-US" sz="1200" u="none" cap="none" strike="noStrike">
                <a:solidFill>
                  <a:srgbClr val="E4E6F5"/>
                </a:solidFill>
                <a:latin typeface="Inter"/>
                <a:ea typeface="Inter"/>
                <a:cs typeface="Inter"/>
                <a:sym typeface="Inter"/>
              </a:rPr>
              <a:t>of 15-year-olds can reliably tell fact from opinion when reading online (OECD average)</a:t>
            </a:r>
            <a:endParaRPr b="0" i="0" sz="1200" u="none" cap="none" strike="noStrike">
              <a:solidFill>
                <a:schemeClr val="dk1"/>
              </a:solidFill>
              <a:latin typeface="Inter"/>
              <a:ea typeface="Inter"/>
              <a:cs typeface="Inter"/>
              <a:sym typeface="Inter"/>
            </a:endParaRPr>
          </a:p>
        </p:txBody>
      </p:sp>
      <p:sp>
        <p:nvSpPr>
          <p:cNvPr id="90" name="Google Shape;90;p4"/>
          <p:cNvSpPr txBox="1"/>
          <p:nvPr/>
        </p:nvSpPr>
        <p:spPr>
          <a:xfrm>
            <a:off x="731520" y="3703320"/>
            <a:ext cx="20116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AA0C3"/>
              </a:buClr>
              <a:buSzPts val="900"/>
              <a:buFont typeface="Inter"/>
              <a:buNone/>
            </a:pPr>
            <a:r>
              <a:rPr b="0" i="1" lang="en-US" sz="900" u="none" cap="none" strike="noStrike">
                <a:solidFill>
                  <a:srgbClr val="9AA0C3"/>
                </a:solidFill>
                <a:latin typeface="Inter"/>
                <a:ea typeface="Inter"/>
                <a:cs typeface="Inter"/>
                <a:sym typeface="Inter"/>
              </a:rPr>
              <a:t>OECD, PISA 2018</a:t>
            </a:r>
            <a:endParaRPr b="0" i="0" sz="900" u="none" cap="none" strike="noStrike">
              <a:solidFill>
                <a:schemeClr val="dk1"/>
              </a:solidFill>
              <a:latin typeface="Inter"/>
              <a:ea typeface="Inter"/>
              <a:cs typeface="Inter"/>
              <a:sym typeface="Inter"/>
            </a:endParaRPr>
          </a:p>
        </p:txBody>
      </p:sp>
      <p:sp>
        <p:nvSpPr>
          <p:cNvPr id="91" name="Google Shape;91;p4"/>
          <p:cNvSpPr/>
          <p:nvPr/>
        </p:nvSpPr>
        <p:spPr>
          <a:xfrm>
            <a:off x="3291840" y="1371600"/>
            <a:ext cx="2560320" cy="2880360"/>
          </a:xfrm>
          <a:prstGeom prst="roundRect">
            <a:avLst>
              <a:gd fmla="val 4286" name="adj"/>
            </a:avLst>
          </a:prstGeom>
          <a:solidFill>
            <a:srgbClr val="1E2238"/>
          </a:solidFill>
          <a:ln cap="flat" cmpd="sng" w="9525">
            <a:solidFill>
              <a:srgbClr val="1E2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txBox="1"/>
          <p:nvPr/>
        </p:nvSpPr>
        <p:spPr>
          <a:xfrm>
            <a:off x="3566160" y="1600200"/>
            <a:ext cx="20116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CF8"/>
              </a:buClr>
              <a:buSzPts val="4400"/>
              <a:buFont typeface="Poppins"/>
              <a:buNone/>
            </a:pPr>
            <a:r>
              <a:rPr b="1" i="0" lang="en-US" sz="4400" u="none" cap="none" strike="noStrike">
                <a:solidFill>
                  <a:srgbClr val="8B9CF8"/>
                </a:solidFill>
                <a:latin typeface="Poppins"/>
                <a:ea typeface="Poppins"/>
                <a:cs typeface="Poppins"/>
                <a:sym typeface="Poppins"/>
              </a:rPr>
              <a:t>96%</a:t>
            </a:r>
            <a:endParaRPr b="0" i="0" sz="4400" u="none" cap="none" strike="noStrike">
              <a:solidFill>
                <a:schemeClr val="dk1"/>
              </a:solidFill>
              <a:latin typeface="Inter"/>
              <a:ea typeface="Inter"/>
              <a:cs typeface="Inter"/>
              <a:sym typeface="Inter"/>
            </a:endParaRPr>
          </a:p>
        </p:txBody>
      </p:sp>
      <p:sp>
        <p:nvSpPr>
          <p:cNvPr id="93" name="Google Shape;93;p4"/>
          <p:cNvSpPr txBox="1"/>
          <p:nvPr/>
        </p:nvSpPr>
        <p:spPr>
          <a:xfrm>
            <a:off x="3566160" y="2560320"/>
            <a:ext cx="2011680" cy="1051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4E6F5"/>
              </a:buClr>
              <a:buSzPts val="1200"/>
              <a:buFont typeface="Inter"/>
              <a:buNone/>
            </a:pPr>
            <a:r>
              <a:rPr b="0" i="0" lang="en-US" sz="1200" u="none" cap="none" strike="noStrike">
                <a:solidFill>
                  <a:srgbClr val="E4E6F5"/>
                </a:solidFill>
                <a:latin typeface="Inter"/>
                <a:ea typeface="Inter"/>
                <a:cs typeface="Inter"/>
                <a:sym typeface="Inter"/>
              </a:rPr>
              <a:t>of US high school students didn't question who was behind a website before trusting it</a:t>
            </a:r>
            <a:endParaRPr b="0" i="0" sz="1200" u="none" cap="none" strike="noStrike">
              <a:solidFill>
                <a:schemeClr val="dk1"/>
              </a:solidFill>
              <a:latin typeface="Inter"/>
              <a:ea typeface="Inter"/>
              <a:cs typeface="Inter"/>
              <a:sym typeface="Inter"/>
            </a:endParaRPr>
          </a:p>
        </p:txBody>
      </p:sp>
      <p:sp>
        <p:nvSpPr>
          <p:cNvPr id="94" name="Google Shape;94;p4"/>
          <p:cNvSpPr txBox="1"/>
          <p:nvPr/>
        </p:nvSpPr>
        <p:spPr>
          <a:xfrm>
            <a:off x="3566160" y="3703320"/>
            <a:ext cx="20116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AA0C3"/>
              </a:buClr>
              <a:buSzPts val="900"/>
              <a:buFont typeface="Inter"/>
              <a:buNone/>
            </a:pPr>
            <a:r>
              <a:rPr b="0" i="1" lang="en-US" sz="900" u="none" cap="none" strike="noStrike">
                <a:solidFill>
                  <a:srgbClr val="9AA0C3"/>
                </a:solidFill>
                <a:latin typeface="Inter"/>
                <a:ea typeface="Inter"/>
                <a:cs typeface="Inter"/>
                <a:sym typeface="Inter"/>
              </a:rPr>
              <a:t>Stanford History Education Group, 2019</a:t>
            </a:r>
            <a:endParaRPr b="0" i="0" sz="900" u="none" cap="none" strike="noStrike">
              <a:solidFill>
                <a:schemeClr val="dk1"/>
              </a:solidFill>
              <a:latin typeface="Inter"/>
              <a:ea typeface="Inter"/>
              <a:cs typeface="Inter"/>
              <a:sym typeface="Inter"/>
            </a:endParaRPr>
          </a:p>
        </p:txBody>
      </p:sp>
      <p:sp>
        <p:nvSpPr>
          <p:cNvPr id="95" name="Google Shape;95;p4"/>
          <p:cNvSpPr/>
          <p:nvPr/>
        </p:nvSpPr>
        <p:spPr>
          <a:xfrm>
            <a:off x="6126480" y="1371600"/>
            <a:ext cx="2560320" cy="2880360"/>
          </a:xfrm>
          <a:prstGeom prst="roundRect">
            <a:avLst>
              <a:gd fmla="val 4286" name="adj"/>
            </a:avLst>
          </a:prstGeom>
          <a:solidFill>
            <a:srgbClr val="1E2238"/>
          </a:solidFill>
          <a:ln cap="flat" cmpd="sng" w="9525">
            <a:solidFill>
              <a:srgbClr val="1E22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txBox="1"/>
          <p:nvPr/>
        </p:nvSpPr>
        <p:spPr>
          <a:xfrm>
            <a:off x="6400800" y="1600200"/>
            <a:ext cx="201168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E635"/>
              </a:buClr>
              <a:buSzPts val="4400"/>
              <a:buFont typeface="Poppins"/>
              <a:buNone/>
            </a:pPr>
            <a:r>
              <a:rPr b="1" i="0" lang="en-US" sz="4400" u="none" cap="none" strike="noStrike">
                <a:solidFill>
                  <a:srgbClr val="A3E635"/>
                </a:solidFill>
                <a:latin typeface="Poppins"/>
                <a:ea typeface="Poppins"/>
                <a:cs typeface="Poppins"/>
                <a:sym typeface="Poppins"/>
              </a:rPr>
              <a:t>1 in 3</a:t>
            </a:r>
            <a:endParaRPr b="0" i="0" sz="4400" u="none" cap="none" strike="noStrike">
              <a:solidFill>
                <a:schemeClr val="dk1"/>
              </a:solidFill>
              <a:latin typeface="Inter"/>
              <a:ea typeface="Inter"/>
              <a:cs typeface="Inter"/>
              <a:sym typeface="Inter"/>
            </a:endParaRPr>
          </a:p>
        </p:txBody>
      </p:sp>
      <p:sp>
        <p:nvSpPr>
          <p:cNvPr id="97" name="Google Shape;97;p4"/>
          <p:cNvSpPr txBox="1"/>
          <p:nvPr/>
        </p:nvSpPr>
        <p:spPr>
          <a:xfrm>
            <a:off x="6400800" y="2560320"/>
            <a:ext cx="2011680" cy="1051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4E6F5"/>
              </a:buClr>
              <a:buSzPts val="1200"/>
              <a:buFont typeface="Inter"/>
              <a:buNone/>
            </a:pPr>
            <a:r>
              <a:rPr b="0" i="0" lang="en-US" sz="1200" u="none" cap="none" strike="noStrike">
                <a:solidFill>
                  <a:srgbClr val="E4E6F5"/>
                </a:solidFill>
                <a:latin typeface="Inter"/>
                <a:ea typeface="Inter"/>
                <a:cs typeface="Inter"/>
                <a:sym typeface="Inter"/>
              </a:rPr>
              <a:t>young people grow up without a mentor outside their family</a:t>
            </a:r>
            <a:endParaRPr b="0" i="0" sz="1200" u="none" cap="none" strike="noStrike">
              <a:solidFill>
                <a:schemeClr val="dk1"/>
              </a:solidFill>
              <a:latin typeface="Inter"/>
              <a:ea typeface="Inter"/>
              <a:cs typeface="Inter"/>
              <a:sym typeface="Inter"/>
            </a:endParaRPr>
          </a:p>
        </p:txBody>
      </p:sp>
      <p:sp>
        <p:nvSpPr>
          <p:cNvPr id="98" name="Google Shape;98;p4"/>
          <p:cNvSpPr txBox="1"/>
          <p:nvPr/>
        </p:nvSpPr>
        <p:spPr>
          <a:xfrm>
            <a:off x="6400800" y="3703320"/>
            <a:ext cx="20116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9AA0C3"/>
              </a:buClr>
              <a:buSzPts val="900"/>
              <a:buFont typeface="Inter"/>
              <a:buNone/>
            </a:pPr>
            <a:r>
              <a:rPr b="0" i="1" lang="en-US" sz="900" u="none" cap="none" strike="noStrike">
                <a:solidFill>
                  <a:srgbClr val="9AA0C3"/>
                </a:solidFill>
                <a:latin typeface="Inter"/>
                <a:ea typeface="Inter"/>
                <a:cs typeface="Inter"/>
                <a:sym typeface="Inter"/>
              </a:rPr>
              <a:t>MENTOR, The Mentoring Effect, 2014</a:t>
            </a:r>
            <a:endParaRPr b="0" i="0" sz="900" u="none" cap="none" strike="noStrike">
              <a:solidFill>
                <a:schemeClr val="dk1"/>
              </a:solidFill>
              <a:latin typeface="Inter"/>
              <a:ea typeface="Inter"/>
              <a:cs typeface="Inter"/>
              <a:sym typeface="Inter"/>
            </a:endParaRPr>
          </a:p>
        </p:txBody>
      </p:sp>
      <p:sp>
        <p:nvSpPr>
          <p:cNvPr id="99" name="Google Shape;99;p4"/>
          <p:cNvSpPr txBox="1"/>
          <p:nvPr/>
        </p:nvSpPr>
        <p:spPr>
          <a:xfrm>
            <a:off x="457200" y="440740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D84A8"/>
              </a:buClr>
              <a:buSzPts val="800"/>
              <a:buFont typeface="Inter"/>
              <a:buNone/>
            </a:pPr>
            <a:r>
              <a:rPr b="0" i="0" lang="en-US" sz="800" u="none" cap="none" strike="noStrike">
                <a:solidFill>
                  <a:srgbClr val="7D84A8"/>
                </a:solidFill>
                <a:latin typeface="Inter"/>
                <a:ea typeface="Inter"/>
                <a:cs typeface="Inter"/>
                <a:sym typeface="Inter"/>
              </a:rPr>
              <a:t>Sources: OECD, 21st-Century Readers (PISA 2018) · Breakstone et al., Students' Civic Online Reasoning (2019) · MENTOR, The Mentoring Effect (2014)</a:t>
            </a:r>
            <a:endParaRPr b="0" i="0" sz="800" u="none" cap="none" strike="noStrike">
              <a:solidFill>
                <a:schemeClr val="dk1"/>
              </a:solidFill>
              <a:latin typeface="Inter"/>
              <a:ea typeface="Inter"/>
              <a:cs typeface="Inter"/>
              <a:sym typeface="Inter"/>
            </a:endParaRPr>
          </a:p>
        </p:txBody>
      </p:sp>
      <p:sp>
        <p:nvSpPr>
          <p:cNvPr id="100" name="Google Shape;100;p4"/>
          <p:cNvSpPr txBox="1"/>
          <p:nvPr>
            <p:ph idx="4294967295" type="sldNum"/>
          </p:nvPr>
        </p:nvSpPr>
        <p:spPr>
          <a:xfrm>
            <a:off x="822960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D84A8"/>
                </a:solidFill>
                <a:latin typeface="Inter"/>
                <a:ea typeface="Inter"/>
                <a:cs typeface="Inter"/>
                <a:sym typeface="Inter"/>
              </a:rPr>
              <a:t>‹#›</a:t>
            </a:fld>
            <a:endParaRPr b="0" i="0" sz="900" u="none" cap="none" strike="noStrike">
              <a:solidFill>
                <a:srgbClr val="7D84A8"/>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txBox="1"/>
          <p:nvPr/>
        </p:nvSpPr>
        <p:spPr>
          <a:xfrm>
            <a:off x="457200" y="292608"/>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1000"/>
              <a:buFont typeface="Inter"/>
              <a:buNone/>
            </a:pPr>
            <a:r>
              <a:rPr b="1" i="0" lang="en-US" sz="1000" u="none" cap="none" strike="noStrike">
                <a:solidFill>
                  <a:srgbClr val="4F46E5"/>
                </a:solidFill>
                <a:latin typeface="Inter"/>
                <a:ea typeface="Inter"/>
                <a:cs typeface="Inter"/>
                <a:sym typeface="Inter"/>
              </a:rPr>
              <a:t>3 · OUR SOLUTION</a:t>
            </a:r>
            <a:endParaRPr b="0" i="0" sz="1000" u="none" cap="none" strike="noStrike">
              <a:solidFill>
                <a:schemeClr val="dk1"/>
              </a:solidFill>
              <a:latin typeface="Inter"/>
              <a:ea typeface="Inter"/>
              <a:cs typeface="Inter"/>
              <a:sym typeface="Inter"/>
            </a:endParaRPr>
          </a:p>
        </p:txBody>
      </p:sp>
      <p:sp>
        <p:nvSpPr>
          <p:cNvPr id="107" name="Google Shape;107;p5"/>
          <p:cNvSpPr txBox="1"/>
          <p:nvPr/>
        </p:nvSpPr>
        <p:spPr>
          <a:xfrm>
            <a:off x="457200" y="530352"/>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2400"/>
              <a:buFont typeface="Poppins"/>
              <a:buNone/>
            </a:pPr>
            <a:r>
              <a:rPr b="1" i="0" lang="en-US" sz="2400" u="none" cap="none" strike="noStrike">
                <a:solidFill>
                  <a:srgbClr val="1B1E33"/>
                </a:solidFill>
                <a:latin typeface="Poppins"/>
                <a:ea typeface="Poppins"/>
                <a:cs typeface="Poppins"/>
                <a:sym typeface="Poppins"/>
              </a:rPr>
              <a:t>Meet Research Mate, your research partner</a:t>
            </a:r>
            <a:endParaRPr b="0" i="0" sz="2400" u="none" cap="none" strike="noStrike">
              <a:solidFill>
                <a:schemeClr val="dk1"/>
              </a:solidFill>
              <a:latin typeface="Inter"/>
              <a:ea typeface="Inter"/>
              <a:cs typeface="Inter"/>
              <a:sym typeface="Inter"/>
            </a:endParaRPr>
          </a:p>
        </p:txBody>
      </p:sp>
      <p:sp>
        <p:nvSpPr>
          <p:cNvPr id="108" name="Google Shape;108;p5"/>
          <p:cNvSpPr txBox="1"/>
          <p:nvPr/>
        </p:nvSpPr>
        <p:spPr>
          <a:xfrm>
            <a:off x="457200" y="1188720"/>
            <a:ext cx="37490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078"/>
              </a:buClr>
              <a:buSzPts val="1300"/>
              <a:buFont typeface="Inter"/>
              <a:buNone/>
            </a:pPr>
            <a:r>
              <a:rPr b="0" i="0" lang="en-US" sz="1300" u="none" cap="none" strike="noStrike">
                <a:solidFill>
                  <a:srgbClr val="5B6078"/>
                </a:solidFill>
                <a:latin typeface="Inter"/>
                <a:ea typeface="Inter"/>
                <a:cs typeface="Inter"/>
                <a:sym typeface="Inter"/>
              </a:rPr>
              <a:t>Answer a few questions and it researches and writes a well-sourced paper that you can check and change.</a:t>
            </a:r>
            <a:endParaRPr b="0" i="0" sz="1300" u="none" cap="none" strike="noStrike">
              <a:solidFill>
                <a:schemeClr val="dk1"/>
              </a:solidFill>
              <a:latin typeface="Inter"/>
              <a:ea typeface="Inter"/>
              <a:cs typeface="Inter"/>
              <a:sym typeface="Inter"/>
            </a:endParaRPr>
          </a:p>
        </p:txBody>
      </p:sp>
      <p:sp>
        <p:nvSpPr>
          <p:cNvPr id="109" name="Google Shape;109;p5"/>
          <p:cNvSpPr/>
          <p:nvPr/>
        </p:nvSpPr>
        <p:spPr>
          <a:xfrm>
            <a:off x="457200" y="2057400"/>
            <a:ext cx="502920" cy="50292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0" name="Google Shape;110;p5"/>
          <p:cNvPicPr preferRelativeResize="0"/>
          <p:nvPr/>
        </p:nvPicPr>
        <p:blipFill rotWithShape="1">
          <a:blip r:embed="rId3">
            <a:alphaModFix/>
          </a:blip>
          <a:srcRect b="0" l="0" r="0" t="0"/>
          <a:stretch/>
        </p:blipFill>
        <p:spPr>
          <a:xfrm>
            <a:off x="567842" y="2168042"/>
            <a:ext cx="281635" cy="281635"/>
          </a:xfrm>
          <a:prstGeom prst="rect">
            <a:avLst/>
          </a:prstGeom>
          <a:noFill/>
          <a:ln>
            <a:noFill/>
          </a:ln>
        </p:spPr>
      </p:pic>
      <p:sp>
        <p:nvSpPr>
          <p:cNvPr id="111" name="Google Shape;111;p5"/>
          <p:cNvSpPr txBox="1"/>
          <p:nvPr/>
        </p:nvSpPr>
        <p:spPr>
          <a:xfrm>
            <a:off x="1143000" y="2020824"/>
            <a:ext cx="31089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400"/>
              <a:buFont typeface="Poppins"/>
              <a:buNone/>
            </a:pPr>
            <a:r>
              <a:rPr b="1" i="0" lang="en-US" sz="1400" u="none" cap="none" strike="noStrike">
                <a:solidFill>
                  <a:srgbClr val="1B1E33"/>
                </a:solidFill>
                <a:latin typeface="Poppins"/>
                <a:ea typeface="Poppins"/>
                <a:cs typeface="Poppins"/>
                <a:sym typeface="Poppins"/>
              </a:rPr>
              <a:t>A quick AI interview</a:t>
            </a:r>
            <a:endParaRPr b="0" i="0" sz="1400" u="none" cap="none" strike="noStrike">
              <a:solidFill>
                <a:schemeClr val="dk1"/>
              </a:solidFill>
              <a:latin typeface="Inter"/>
              <a:ea typeface="Inter"/>
              <a:cs typeface="Inter"/>
              <a:sym typeface="Inter"/>
            </a:endParaRPr>
          </a:p>
          <a:p>
            <a:pPr indent="0" lvl="0" marL="0" marR="0" rtl="0" algn="l">
              <a:spcBef>
                <a:spcPts val="20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Multiple-choice questions that shape your paper</a:t>
            </a:r>
            <a:endParaRPr b="0" i="0" sz="1400" u="none" cap="none" strike="noStrike">
              <a:solidFill>
                <a:schemeClr val="dk1"/>
              </a:solidFill>
              <a:latin typeface="Inter"/>
              <a:ea typeface="Inter"/>
              <a:cs typeface="Inter"/>
              <a:sym typeface="Inter"/>
            </a:endParaRPr>
          </a:p>
        </p:txBody>
      </p:sp>
      <p:sp>
        <p:nvSpPr>
          <p:cNvPr id="112" name="Google Shape;112;p5"/>
          <p:cNvSpPr/>
          <p:nvPr/>
        </p:nvSpPr>
        <p:spPr>
          <a:xfrm>
            <a:off x="457200" y="2880360"/>
            <a:ext cx="502920" cy="50292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 name="Google Shape;113;p5"/>
          <p:cNvPicPr preferRelativeResize="0"/>
          <p:nvPr/>
        </p:nvPicPr>
        <p:blipFill rotWithShape="1">
          <a:blip r:embed="rId4">
            <a:alphaModFix/>
          </a:blip>
          <a:srcRect b="0" l="0" r="0" t="0"/>
          <a:stretch/>
        </p:blipFill>
        <p:spPr>
          <a:xfrm>
            <a:off x="567842" y="2991002"/>
            <a:ext cx="281635" cy="281635"/>
          </a:xfrm>
          <a:prstGeom prst="rect">
            <a:avLst/>
          </a:prstGeom>
          <a:noFill/>
          <a:ln>
            <a:noFill/>
          </a:ln>
        </p:spPr>
      </p:pic>
      <p:sp>
        <p:nvSpPr>
          <p:cNvPr id="114" name="Google Shape;114;p5"/>
          <p:cNvSpPr txBox="1"/>
          <p:nvPr/>
        </p:nvSpPr>
        <p:spPr>
          <a:xfrm>
            <a:off x="1143000" y="2843784"/>
            <a:ext cx="31089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400"/>
              <a:buFont typeface="Poppins"/>
              <a:buNone/>
            </a:pPr>
            <a:r>
              <a:rPr b="1" i="0" lang="en-US" sz="1400" u="none" cap="none" strike="noStrike">
                <a:solidFill>
                  <a:srgbClr val="1B1E33"/>
                </a:solidFill>
                <a:latin typeface="Poppins"/>
                <a:ea typeface="Poppins"/>
                <a:cs typeface="Poppins"/>
                <a:sym typeface="Poppins"/>
              </a:rPr>
              <a:t>AI does the research</a:t>
            </a:r>
            <a:endParaRPr b="0" i="0" sz="1400" u="none" cap="none" strike="noStrike">
              <a:solidFill>
                <a:schemeClr val="dk1"/>
              </a:solidFill>
              <a:latin typeface="Inter"/>
              <a:ea typeface="Inter"/>
              <a:cs typeface="Inter"/>
              <a:sym typeface="Inter"/>
            </a:endParaRPr>
          </a:p>
          <a:p>
            <a:pPr indent="0" lvl="0" marL="0" marR="0" rtl="0" algn="l">
              <a:spcBef>
                <a:spcPts val="20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Finds sources, takes notes, plans and writes it all</a:t>
            </a:r>
            <a:endParaRPr b="0" i="0" sz="1400" u="none" cap="none" strike="noStrike">
              <a:solidFill>
                <a:schemeClr val="dk1"/>
              </a:solidFill>
              <a:latin typeface="Inter"/>
              <a:ea typeface="Inter"/>
              <a:cs typeface="Inter"/>
              <a:sym typeface="Inter"/>
            </a:endParaRPr>
          </a:p>
        </p:txBody>
      </p:sp>
      <p:sp>
        <p:nvSpPr>
          <p:cNvPr id="115" name="Google Shape;115;p5"/>
          <p:cNvSpPr/>
          <p:nvPr/>
        </p:nvSpPr>
        <p:spPr>
          <a:xfrm>
            <a:off x="457200" y="3703320"/>
            <a:ext cx="502920" cy="50292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6" name="Google Shape;116;p5"/>
          <p:cNvPicPr preferRelativeResize="0"/>
          <p:nvPr/>
        </p:nvPicPr>
        <p:blipFill rotWithShape="1">
          <a:blip r:embed="rId5">
            <a:alphaModFix/>
          </a:blip>
          <a:srcRect b="0" l="0" r="0" t="0"/>
          <a:stretch/>
        </p:blipFill>
        <p:spPr>
          <a:xfrm>
            <a:off x="567842" y="3813962"/>
            <a:ext cx="281635" cy="281635"/>
          </a:xfrm>
          <a:prstGeom prst="rect">
            <a:avLst/>
          </a:prstGeom>
          <a:noFill/>
          <a:ln>
            <a:noFill/>
          </a:ln>
        </p:spPr>
      </p:pic>
      <p:sp>
        <p:nvSpPr>
          <p:cNvPr id="117" name="Google Shape;117;p5"/>
          <p:cNvSpPr txBox="1"/>
          <p:nvPr/>
        </p:nvSpPr>
        <p:spPr>
          <a:xfrm>
            <a:off x="1143000" y="3666744"/>
            <a:ext cx="31089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400"/>
              <a:buFont typeface="Poppins"/>
              <a:buNone/>
            </a:pPr>
            <a:r>
              <a:rPr b="1" i="0" lang="en-US" sz="1400" u="none" cap="none" strike="noStrike">
                <a:solidFill>
                  <a:srgbClr val="1B1E33"/>
                </a:solidFill>
                <a:latin typeface="Poppins"/>
                <a:ea typeface="Poppins"/>
                <a:cs typeface="Poppins"/>
                <a:sym typeface="Poppins"/>
              </a:rPr>
              <a:t>Sources you can trust</a:t>
            </a:r>
            <a:endParaRPr b="0" i="0" sz="1400" u="none" cap="none" strike="noStrike">
              <a:solidFill>
                <a:schemeClr val="dk1"/>
              </a:solidFill>
              <a:latin typeface="Inter"/>
              <a:ea typeface="Inter"/>
              <a:cs typeface="Inter"/>
              <a:sym typeface="Inter"/>
            </a:endParaRPr>
          </a:p>
          <a:p>
            <a:pPr indent="0" lvl="0" marL="0" marR="0" rtl="0" algn="l">
              <a:spcBef>
                <a:spcPts val="20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Every source is labelled Trusted, Check it or Be careful</a:t>
            </a:r>
            <a:endParaRPr b="0" i="0" sz="1400" u="none" cap="none" strike="noStrike">
              <a:solidFill>
                <a:schemeClr val="dk1"/>
              </a:solidFill>
              <a:latin typeface="Inter"/>
              <a:ea typeface="Inter"/>
              <a:cs typeface="Inter"/>
              <a:sym typeface="Inter"/>
            </a:endParaRPr>
          </a:p>
        </p:txBody>
      </p:sp>
      <p:sp>
        <p:nvSpPr>
          <p:cNvPr id="118" name="Google Shape;118;p5"/>
          <p:cNvSpPr/>
          <p:nvPr/>
        </p:nvSpPr>
        <p:spPr>
          <a:xfrm>
            <a:off x="4517136" y="1362456"/>
            <a:ext cx="4224528" cy="2414016"/>
          </a:xfrm>
          <a:prstGeom prst="roundRect">
            <a:avLst>
              <a:gd fmla="val 3788" name="adj"/>
            </a:avLst>
          </a:prstGeom>
          <a:solidFill>
            <a:srgbClr val="1E2238"/>
          </a:solidFill>
          <a:ln cap="flat" cmpd="sng" w="12700">
            <a:solidFill>
              <a:srgbClr val="1E2238"/>
            </a:solidFill>
            <a:prstDash val="solid"/>
            <a:round/>
            <a:headEnd len="sm" w="sm" type="none"/>
            <a:tailEnd len="sm" w="sm" type="none"/>
          </a:ln>
          <a:effectLst>
            <a:outerShdw blurRad="127000" rotWithShape="0" algn="bl" dir="5400000" dist="38100">
              <a:srgbClr val="1B1E33">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sers\vardh\AppData\Local\Temp\claude\C--Mayo-Projects-research-co-pilot\ed8aac66-bc68-4af8-a2ce-7ca39eae2bf2\scratchpad\deck\img\start.jpg" id="119" name="Google Shape;119;p5"/>
          <p:cNvPicPr preferRelativeResize="0"/>
          <p:nvPr/>
        </p:nvPicPr>
        <p:blipFill rotWithShape="1">
          <a:blip r:embed="rId6">
            <a:alphaModFix/>
          </a:blip>
          <a:srcRect b="0" l="0" r="0" t="0"/>
          <a:stretch/>
        </p:blipFill>
        <p:spPr>
          <a:xfrm>
            <a:off x="4572000" y="1417320"/>
            <a:ext cx="4114800" cy="2304288"/>
          </a:xfrm>
          <a:prstGeom prst="rect">
            <a:avLst/>
          </a:prstGeom>
          <a:noFill/>
          <a:ln>
            <a:noFill/>
          </a:ln>
        </p:spPr>
      </p:pic>
      <p:sp>
        <p:nvSpPr>
          <p:cNvPr id="120" name="Google Shape;120;p5"/>
          <p:cNvSpPr txBox="1"/>
          <p:nvPr>
            <p:ph idx="4294967295" type="sldNum"/>
          </p:nvPr>
        </p:nvSpPr>
        <p:spPr>
          <a:xfrm>
            <a:off x="822960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FA8"/>
                </a:solidFill>
                <a:latin typeface="Inter"/>
                <a:ea typeface="Inter"/>
                <a:cs typeface="Inter"/>
                <a:sym typeface="Inter"/>
              </a:rPr>
              <a:t>‹#›</a:t>
            </a:fld>
            <a:endParaRPr b="0" i="0" sz="900" u="none" cap="none" strike="noStrike">
              <a:solidFill>
                <a:srgbClr val="8A8FA8"/>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6"/>
          <p:cNvSpPr txBox="1"/>
          <p:nvPr/>
        </p:nvSpPr>
        <p:spPr>
          <a:xfrm>
            <a:off x="457200" y="292608"/>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1000"/>
              <a:buFont typeface="Inter"/>
              <a:buNone/>
            </a:pPr>
            <a:r>
              <a:rPr b="1" i="0" lang="en-US" sz="1000" u="none" cap="none" strike="noStrike">
                <a:solidFill>
                  <a:srgbClr val="4F46E5"/>
                </a:solidFill>
                <a:latin typeface="Inter"/>
                <a:ea typeface="Inter"/>
                <a:cs typeface="Inter"/>
                <a:sym typeface="Inter"/>
              </a:rPr>
              <a:t>4 · WHAT INSPIRED US</a:t>
            </a:r>
            <a:endParaRPr b="0" i="0" sz="1000" u="none" cap="none" strike="noStrike">
              <a:solidFill>
                <a:schemeClr val="dk1"/>
              </a:solidFill>
              <a:latin typeface="Inter"/>
              <a:ea typeface="Inter"/>
              <a:cs typeface="Inter"/>
              <a:sym typeface="Inter"/>
            </a:endParaRPr>
          </a:p>
        </p:txBody>
      </p:sp>
      <p:sp>
        <p:nvSpPr>
          <p:cNvPr id="127" name="Google Shape;127;p6"/>
          <p:cNvSpPr txBox="1"/>
          <p:nvPr/>
        </p:nvSpPr>
        <p:spPr>
          <a:xfrm>
            <a:off x="457200" y="530352"/>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2400"/>
              <a:buFont typeface="Poppins"/>
              <a:buNone/>
            </a:pPr>
            <a:r>
              <a:rPr b="1" i="0" lang="en-US" sz="2400" u="none" cap="none" strike="noStrike">
                <a:solidFill>
                  <a:srgbClr val="1B1E33"/>
                </a:solidFill>
                <a:latin typeface="Poppins"/>
                <a:ea typeface="Poppins"/>
                <a:cs typeface="Poppins"/>
                <a:sym typeface="Poppins"/>
              </a:rPr>
              <a:t>Every idea deserves a place to start</a:t>
            </a:r>
            <a:endParaRPr b="0" i="0" sz="2400" u="none" cap="none" strike="noStrike">
              <a:solidFill>
                <a:schemeClr val="dk1"/>
              </a:solidFill>
              <a:latin typeface="Inter"/>
              <a:ea typeface="Inter"/>
              <a:cs typeface="Inter"/>
              <a:sym typeface="Inter"/>
            </a:endParaRPr>
          </a:p>
        </p:txBody>
      </p:sp>
      <p:sp>
        <p:nvSpPr>
          <p:cNvPr id="128" name="Google Shape;128;p6"/>
          <p:cNvSpPr/>
          <p:nvPr/>
        </p:nvSpPr>
        <p:spPr>
          <a:xfrm>
            <a:off x="457200" y="1371600"/>
            <a:ext cx="4846320" cy="3017520"/>
          </a:xfrm>
          <a:prstGeom prst="roundRect">
            <a:avLst>
              <a:gd fmla="val 3636" name="adj"/>
            </a:avLst>
          </a:prstGeom>
          <a:solidFill>
            <a:srgbClr val="14172A"/>
          </a:solidFill>
          <a:ln cap="flat" cmpd="sng" w="9525">
            <a:solidFill>
              <a:srgbClr val="141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9" name="Google Shape;129;p6"/>
          <p:cNvPicPr preferRelativeResize="0"/>
          <p:nvPr/>
        </p:nvPicPr>
        <p:blipFill rotWithShape="1">
          <a:blip r:embed="rId3">
            <a:alphaModFix/>
          </a:blip>
          <a:srcRect b="0" l="0" r="0" t="0"/>
          <a:stretch/>
        </p:blipFill>
        <p:spPr>
          <a:xfrm>
            <a:off x="777240" y="1645920"/>
            <a:ext cx="457200" cy="457200"/>
          </a:xfrm>
          <a:prstGeom prst="rect">
            <a:avLst/>
          </a:prstGeom>
          <a:noFill/>
          <a:ln>
            <a:noFill/>
          </a:ln>
        </p:spPr>
      </p:pic>
      <p:sp>
        <p:nvSpPr>
          <p:cNvPr id="130" name="Google Shape;130;p6"/>
          <p:cNvSpPr txBox="1"/>
          <p:nvPr/>
        </p:nvSpPr>
        <p:spPr>
          <a:xfrm>
            <a:off x="777240" y="2240280"/>
            <a:ext cx="4206240" cy="1463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Poppins"/>
              <a:buNone/>
            </a:pPr>
            <a:r>
              <a:rPr b="0" i="0" lang="en-US" sz="1600" u="none" cap="none" strike="noStrike">
                <a:solidFill>
                  <a:srgbClr val="FFFFFF"/>
                </a:solidFill>
                <a:latin typeface="Poppins"/>
                <a:ea typeface="Poppins"/>
                <a:cs typeface="Poppins"/>
                <a:sym typeface="Poppins"/>
              </a:rPr>
              <a:t>We saw that many students in our school had excellent ideas but couldn't think of how to research them or put them into practice.</a:t>
            </a:r>
            <a:endParaRPr b="0" i="0" sz="1600" u="none" cap="none" strike="noStrike">
              <a:solidFill>
                <a:schemeClr val="dk1"/>
              </a:solidFill>
              <a:latin typeface="Inter"/>
              <a:ea typeface="Inter"/>
              <a:cs typeface="Inter"/>
              <a:sym typeface="Inter"/>
            </a:endParaRPr>
          </a:p>
        </p:txBody>
      </p:sp>
      <p:sp>
        <p:nvSpPr>
          <p:cNvPr id="131" name="Google Shape;131;p6"/>
          <p:cNvSpPr txBox="1"/>
          <p:nvPr/>
        </p:nvSpPr>
        <p:spPr>
          <a:xfrm>
            <a:off x="777240" y="3840480"/>
            <a:ext cx="4206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3E635"/>
              </a:buClr>
              <a:buSzPts val="1100"/>
              <a:buFont typeface="Inter"/>
              <a:buNone/>
            </a:pPr>
            <a:r>
              <a:rPr b="1" i="0" lang="en-US" sz="1100" u="none" cap="none" strike="noStrike">
                <a:solidFill>
                  <a:srgbClr val="A3E635"/>
                </a:solidFill>
                <a:latin typeface="Inter"/>
                <a:ea typeface="Inter"/>
                <a:cs typeface="Inter"/>
                <a:sym typeface="Inter"/>
              </a:rPr>
              <a:t>Group 9</a:t>
            </a:r>
            <a:endParaRPr b="0" i="0" sz="1100" u="none" cap="none" strike="noStrike">
              <a:solidFill>
                <a:schemeClr val="dk1"/>
              </a:solidFill>
              <a:latin typeface="Inter"/>
              <a:ea typeface="Inter"/>
              <a:cs typeface="Inter"/>
              <a:sym typeface="Inter"/>
            </a:endParaRPr>
          </a:p>
        </p:txBody>
      </p:sp>
      <p:sp>
        <p:nvSpPr>
          <p:cNvPr id="132" name="Google Shape;132;p6"/>
          <p:cNvSpPr/>
          <p:nvPr/>
        </p:nvSpPr>
        <p:spPr>
          <a:xfrm>
            <a:off x="5577840" y="1371600"/>
            <a:ext cx="3108960" cy="868680"/>
          </a:xfrm>
          <a:prstGeom prst="roundRect">
            <a:avLst>
              <a:gd fmla="val 12632"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
          <p:cNvSpPr/>
          <p:nvPr/>
        </p:nvSpPr>
        <p:spPr>
          <a:xfrm>
            <a:off x="5760720" y="1554480"/>
            <a:ext cx="502920" cy="50292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4" name="Google Shape;134;p6"/>
          <p:cNvPicPr preferRelativeResize="0"/>
          <p:nvPr/>
        </p:nvPicPr>
        <p:blipFill rotWithShape="1">
          <a:blip r:embed="rId4">
            <a:alphaModFix/>
          </a:blip>
          <a:srcRect b="0" l="0" r="0" t="0"/>
          <a:stretch/>
        </p:blipFill>
        <p:spPr>
          <a:xfrm>
            <a:off x="5871362" y="1665122"/>
            <a:ext cx="281635" cy="281635"/>
          </a:xfrm>
          <a:prstGeom prst="rect">
            <a:avLst/>
          </a:prstGeom>
          <a:noFill/>
          <a:ln>
            <a:noFill/>
          </a:ln>
        </p:spPr>
      </p:pic>
      <p:sp>
        <p:nvSpPr>
          <p:cNvPr id="135" name="Google Shape;135;p6"/>
          <p:cNvSpPr txBox="1"/>
          <p:nvPr/>
        </p:nvSpPr>
        <p:spPr>
          <a:xfrm>
            <a:off x="6400800" y="1463040"/>
            <a:ext cx="21488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E33"/>
              </a:buClr>
              <a:buSzPts val="1200"/>
              <a:buFont typeface="Poppins"/>
              <a:buNone/>
            </a:pPr>
            <a:r>
              <a:rPr b="1" i="0" lang="en-US" sz="1200" u="none" cap="none" strike="noStrike">
                <a:solidFill>
                  <a:srgbClr val="1B1E33"/>
                </a:solidFill>
                <a:latin typeface="Poppins"/>
                <a:ea typeface="Poppins"/>
                <a:cs typeface="Poppins"/>
                <a:sym typeface="Poppins"/>
              </a:rPr>
              <a:t>Ideas need a starting point</a:t>
            </a:r>
            <a:endParaRPr b="0" i="0" sz="1200" u="none" cap="none" strike="noStrike">
              <a:solidFill>
                <a:schemeClr val="dk1"/>
              </a:solidFill>
              <a:latin typeface="Inter"/>
              <a:ea typeface="Inter"/>
              <a:cs typeface="Inter"/>
              <a:sym typeface="Inter"/>
            </a:endParaRPr>
          </a:p>
        </p:txBody>
      </p:sp>
      <p:sp>
        <p:nvSpPr>
          <p:cNvPr id="136" name="Google Shape;136;p6"/>
          <p:cNvSpPr/>
          <p:nvPr/>
        </p:nvSpPr>
        <p:spPr>
          <a:xfrm>
            <a:off x="5577840" y="2423160"/>
            <a:ext cx="3108960" cy="868680"/>
          </a:xfrm>
          <a:prstGeom prst="roundRect">
            <a:avLst>
              <a:gd fmla="val 12632"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p:nvPr/>
        </p:nvSpPr>
        <p:spPr>
          <a:xfrm>
            <a:off x="5760720" y="2606040"/>
            <a:ext cx="502920" cy="50292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8" name="Google Shape;138;p6"/>
          <p:cNvPicPr preferRelativeResize="0"/>
          <p:nvPr/>
        </p:nvPicPr>
        <p:blipFill rotWithShape="1">
          <a:blip r:embed="rId5">
            <a:alphaModFix/>
          </a:blip>
          <a:srcRect b="0" l="0" r="0" t="0"/>
          <a:stretch/>
        </p:blipFill>
        <p:spPr>
          <a:xfrm>
            <a:off x="5871362" y="2716682"/>
            <a:ext cx="281635" cy="281635"/>
          </a:xfrm>
          <a:prstGeom prst="rect">
            <a:avLst/>
          </a:prstGeom>
          <a:noFill/>
          <a:ln>
            <a:noFill/>
          </a:ln>
        </p:spPr>
      </p:pic>
      <p:sp>
        <p:nvSpPr>
          <p:cNvPr id="139" name="Google Shape;139;p6"/>
          <p:cNvSpPr txBox="1"/>
          <p:nvPr/>
        </p:nvSpPr>
        <p:spPr>
          <a:xfrm>
            <a:off x="6400800" y="2514600"/>
            <a:ext cx="21488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E33"/>
              </a:buClr>
              <a:buSzPts val="1200"/>
              <a:buFont typeface="Poppins"/>
              <a:buNone/>
            </a:pPr>
            <a:r>
              <a:rPr b="1" i="0" lang="en-US" sz="1200" u="none" cap="none" strike="noStrike">
                <a:solidFill>
                  <a:srgbClr val="1B1E33"/>
                </a:solidFill>
                <a:latin typeface="Poppins"/>
                <a:ea typeface="Poppins"/>
                <a:cs typeface="Poppins"/>
                <a:sym typeface="Poppins"/>
              </a:rPr>
              <a:t>Trust beats information overload</a:t>
            </a:r>
            <a:endParaRPr b="0" i="0" sz="1200" u="none" cap="none" strike="noStrike">
              <a:solidFill>
                <a:schemeClr val="dk1"/>
              </a:solidFill>
              <a:latin typeface="Inter"/>
              <a:ea typeface="Inter"/>
              <a:cs typeface="Inter"/>
              <a:sym typeface="Inter"/>
            </a:endParaRPr>
          </a:p>
        </p:txBody>
      </p:sp>
      <p:sp>
        <p:nvSpPr>
          <p:cNvPr id="140" name="Google Shape;140;p6"/>
          <p:cNvSpPr/>
          <p:nvPr/>
        </p:nvSpPr>
        <p:spPr>
          <a:xfrm>
            <a:off x="5577840" y="3474720"/>
            <a:ext cx="3108960" cy="868680"/>
          </a:xfrm>
          <a:prstGeom prst="roundRect">
            <a:avLst>
              <a:gd fmla="val 12632"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5760720" y="3657600"/>
            <a:ext cx="502920" cy="50292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2" name="Google Shape;142;p6"/>
          <p:cNvPicPr preferRelativeResize="0"/>
          <p:nvPr/>
        </p:nvPicPr>
        <p:blipFill rotWithShape="1">
          <a:blip r:embed="rId6">
            <a:alphaModFix/>
          </a:blip>
          <a:srcRect b="0" l="0" r="0" t="0"/>
          <a:stretch/>
        </p:blipFill>
        <p:spPr>
          <a:xfrm>
            <a:off x="5871362" y="3768242"/>
            <a:ext cx="281635" cy="281635"/>
          </a:xfrm>
          <a:prstGeom prst="rect">
            <a:avLst/>
          </a:prstGeom>
          <a:noFill/>
          <a:ln>
            <a:noFill/>
          </a:ln>
        </p:spPr>
      </p:pic>
      <p:sp>
        <p:nvSpPr>
          <p:cNvPr id="143" name="Google Shape;143;p6"/>
          <p:cNvSpPr txBox="1"/>
          <p:nvPr/>
        </p:nvSpPr>
        <p:spPr>
          <a:xfrm>
            <a:off x="6400800" y="3566160"/>
            <a:ext cx="21488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E33"/>
              </a:buClr>
              <a:buSzPts val="1200"/>
              <a:buFont typeface="Poppins"/>
              <a:buNone/>
            </a:pPr>
            <a:r>
              <a:rPr b="1" i="0" lang="en-US" sz="1200" u="none" cap="none" strike="noStrike">
                <a:solidFill>
                  <a:srgbClr val="1B1E33"/>
                </a:solidFill>
                <a:latin typeface="Poppins"/>
                <a:ea typeface="Poppins"/>
                <a:cs typeface="Poppins"/>
                <a:sym typeface="Poppins"/>
              </a:rPr>
              <a:t>Guidance for everyone, not just a few</a:t>
            </a:r>
            <a:endParaRPr b="0" i="0" sz="1200" u="none" cap="none" strike="noStrike">
              <a:solidFill>
                <a:schemeClr val="dk1"/>
              </a:solidFill>
              <a:latin typeface="Inter"/>
              <a:ea typeface="Inter"/>
              <a:cs typeface="Inter"/>
              <a:sym typeface="Inter"/>
            </a:endParaRPr>
          </a:p>
        </p:txBody>
      </p:sp>
      <p:sp>
        <p:nvSpPr>
          <p:cNvPr id="144" name="Google Shape;144;p6"/>
          <p:cNvSpPr txBox="1"/>
          <p:nvPr>
            <p:ph idx="4294967295" type="sldNum"/>
          </p:nvPr>
        </p:nvSpPr>
        <p:spPr>
          <a:xfrm>
            <a:off x="822960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FA8"/>
                </a:solidFill>
                <a:latin typeface="Inter"/>
                <a:ea typeface="Inter"/>
                <a:cs typeface="Inter"/>
                <a:sym typeface="Inter"/>
              </a:rPr>
              <a:t>‹#›</a:t>
            </a:fld>
            <a:endParaRPr b="0" i="0" sz="900" u="none" cap="none" strike="noStrike">
              <a:solidFill>
                <a:srgbClr val="8A8FA8"/>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7"/>
          <p:cNvSpPr txBox="1"/>
          <p:nvPr/>
        </p:nvSpPr>
        <p:spPr>
          <a:xfrm>
            <a:off x="457200" y="292608"/>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1000"/>
              <a:buFont typeface="Inter"/>
              <a:buNone/>
            </a:pPr>
            <a:r>
              <a:rPr b="1" i="0" lang="en-US" sz="1000" u="none" cap="none" strike="noStrike">
                <a:solidFill>
                  <a:srgbClr val="4F46E5"/>
                </a:solidFill>
                <a:latin typeface="Inter"/>
                <a:ea typeface="Inter"/>
                <a:cs typeface="Inter"/>
                <a:sym typeface="Inter"/>
              </a:rPr>
              <a:t>5 · HOW IT WORKS · START AND STEP 1</a:t>
            </a:r>
            <a:endParaRPr b="0" i="0" sz="1000" u="none" cap="none" strike="noStrike">
              <a:solidFill>
                <a:schemeClr val="dk1"/>
              </a:solidFill>
              <a:latin typeface="Inter"/>
              <a:ea typeface="Inter"/>
              <a:cs typeface="Inter"/>
              <a:sym typeface="Inter"/>
            </a:endParaRPr>
          </a:p>
        </p:txBody>
      </p:sp>
      <p:sp>
        <p:nvSpPr>
          <p:cNvPr id="151" name="Google Shape;151;p7"/>
          <p:cNvSpPr txBox="1"/>
          <p:nvPr/>
        </p:nvSpPr>
        <p:spPr>
          <a:xfrm>
            <a:off x="457200" y="530352"/>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2400"/>
              <a:buFont typeface="Poppins"/>
              <a:buNone/>
            </a:pPr>
            <a:r>
              <a:rPr b="1" i="0" lang="en-US" sz="2400" u="none" cap="none" strike="noStrike">
                <a:solidFill>
                  <a:srgbClr val="1B1E33"/>
                </a:solidFill>
                <a:latin typeface="Poppins"/>
                <a:ea typeface="Poppins"/>
                <a:cs typeface="Poppins"/>
                <a:sym typeface="Poppins"/>
              </a:rPr>
              <a:t>Share your idea, answer a few questions</a:t>
            </a:r>
            <a:endParaRPr b="0" i="0" sz="2400" u="none" cap="none" strike="noStrike">
              <a:solidFill>
                <a:schemeClr val="dk1"/>
              </a:solidFill>
              <a:latin typeface="Inter"/>
              <a:ea typeface="Inter"/>
              <a:cs typeface="Inter"/>
              <a:sym typeface="Inter"/>
            </a:endParaRPr>
          </a:p>
        </p:txBody>
      </p:sp>
      <p:sp>
        <p:nvSpPr>
          <p:cNvPr id="152" name="Google Shape;152;p7"/>
          <p:cNvSpPr/>
          <p:nvPr/>
        </p:nvSpPr>
        <p:spPr>
          <a:xfrm>
            <a:off x="457200" y="1316736"/>
            <a:ext cx="4041648" cy="2311603"/>
          </a:xfrm>
          <a:prstGeom prst="roundRect">
            <a:avLst>
              <a:gd fmla="val 3956" name="adj"/>
            </a:avLst>
          </a:prstGeom>
          <a:solidFill>
            <a:srgbClr val="1E2238"/>
          </a:solidFill>
          <a:ln cap="flat" cmpd="sng" w="12700">
            <a:solidFill>
              <a:srgbClr val="1E2238"/>
            </a:solidFill>
            <a:prstDash val="solid"/>
            <a:round/>
            <a:headEnd len="sm" w="sm" type="none"/>
            <a:tailEnd len="sm" w="sm" type="none"/>
          </a:ln>
          <a:effectLst>
            <a:outerShdw blurRad="127000" rotWithShape="0" algn="bl" dir="5400000" dist="38100">
              <a:srgbClr val="1B1E33">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sers\vardh\AppData\Local\Temp\claude\C--Mayo-Projects-research-co-pilot\ed8aac66-bc68-4af8-a2ce-7ca39eae2bf2\scratchpad\deck\img\start.jpg" id="153" name="Google Shape;153;p7"/>
          <p:cNvPicPr preferRelativeResize="0"/>
          <p:nvPr/>
        </p:nvPicPr>
        <p:blipFill rotWithShape="1">
          <a:blip r:embed="rId3">
            <a:alphaModFix/>
          </a:blip>
          <a:srcRect b="0" l="0" r="0" t="0"/>
          <a:stretch/>
        </p:blipFill>
        <p:spPr>
          <a:xfrm>
            <a:off x="512064" y="1371600"/>
            <a:ext cx="3931920" cy="2201875"/>
          </a:xfrm>
          <a:prstGeom prst="rect">
            <a:avLst/>
          </a:prstGeom>
          <a:noFill/>
          <a:ln>
            <a:noFill/>
          </a:ln>
        </p:spPr>
      </p:pic>
      <p:sp>
        <p:nvSpPr>
          <p:cNvPr id="154" name="Google Shape;154;p7"/>
          <p:cNvSpPr/>
          <p:nvPr/>
        </p:nvSpPr>
        <p:spPr>
          <a:xfrm>
            <a:off x="457200" y="3822192"/>
            <a:ext cx="329184" cy="329184"/>
          </a:xfrm>
          <a:prstGeom prst="ellipse">
            <a:avLst/>
          </a:prstGeom>
          <a:solidFill>
            <a:srgbClr val="4F46E5"/>
          </a:solidFill>
          <a:ln cap="flat" cmpd="sng" w="12700">
            <a:solidFill>
              <a:srgbClr val="4F46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7"/>
          <p:cNvSpPr txBox="1"/>
          <p:nvPr/>
        </p:nvSpPr>
        <p:spPr>
          <a:xfrm>
            <a:off x="457200" y="38221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S</a:t>
            </a:r>
            <a:endParaRPr b="0" i="0" sz="1200" u="none" cap="none" strike="noStrike">
              <a:solidFill>
                <a:schemeClr val="dk1"/>
              </a:solidFill>
              <a:latin typeface="Inter"/>
              <a:ea typeface="Inter"/>
              <a:cs typeface="Inter"/>
              <a:sym typeface="Inter"/>
            </a:endParaRPr>
          </a:p>
        </p:txBody>
      </p:sp>
      <p:sp>
        <p:nvSpPr>
          <p:cNvPr id="156" name="Google Shape;156;p7"/>
          <p:cNvSpPr txBox="1"/>
          <p:nvPr/>
        </p:nvSpPr>
        <p:spPr>
          <a:xfrm>
            <a:off x="914400" y="3785616"/>
            <a:ext cx="3584448"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400"/>
              <a:buFont typeface="Poppins"/>
              <a:buNone/>
            </a:pPr>
            <a:r>
              <a:rPr b="1" i="0" lang="en-US" sz="1400" u="none" cap="none" strike="noStrike">
                <a:solidFill>
                  <a:srgbClr val="1B1E33"/>
                </a:solidFill>
                <a:latin typeface="Poppins"/>
                <a:ea typeface="Poppins"/>
                <a:cs typeface="Poppins"/>
                <a:sym typeface="Poppins"/>
              </a:rPr>
              <a:t>Start</a:t>
            </a:r>
            <a:endParaRPr b="0" i="0" sz="1400" u="none" cap="none" strike="noStrike">
              <a:solidFill>
                <a:schemeClr val="dk1"/>
              </a:solidFill>
              <a:latin typeface="Inter"/>
              <a:ea typeface="Inter"/>
              <a:cs typeface="Inter"/>
              <a:sym typeface="Inter"/>
            </a:endParaRPr>
          </a:p>
          <a:p>
            <a:pPr indent="0" lvl="0" marL="0" marR="0" rtl="0" algn="l">
              <a:spcBef>
                <a:spcPts val="30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Type an idea, choose essay, report or paper, and pick your level</a:t>
            </a:r>
            <a:endParaRPr b="0" i="0" sz="1400" u="none" cap="none" strike="noStrike">
              <a:solidFill>
                <a:schemeClr val="dk1"/>
              </a:solidFill>
              <a:latin typeface="Inter"/>
              <a:ea typeface="Inter"/>
              <a:cs typeface="Inter"/>
              <a:sym typeface="Inter"/>
            </a:endParaRPr>
          </a:p>
        </p:txBody>
      </p:sp>
      <p:sp>
        <p:nvSpPr>
          <p:cNvPr id="157" name="Google Shape;157;p7"/>
          <p:cNvSpPr/>
          <p:nvPr/>
        </p:nvSpPr>
        <p:spPr>
          <a:xfrm>
            <a:off x="4645152" y="1316736"/>
            <a:ext cx="4041648" cy="2311603"/>
          </a:xfrm>
          <a:prstGeom prst="roundRect">
            <a:avLst>
              <a:gd fmla="val 3956" name="adj"/>
            </a:avLst>
          </a:prstGeom>
          <a:solidFill>
            <a:srgbClr val="1E2238"/>
          </a:solidFill>
          <a:ln cap="flat" cmpd="sng" w="12700">
            <a:solidFill>
              <a:srgbClr val="1E2238"/>
            </a:solidFill>
            <a:prstDash val="solid"/>
            <a:round/>
            <a:headEnd len="sm" w="sm" type="none"/>
            <a:tailEnd len="sm" w="sm" type="none"/>
          </a:ln>
          <a:effectLst>
            <a:outerShdw blurRad="127000" rotWithShape="0" algn="bl" dir="5400000" dist="38100">
              <a:srgbClr val="1B1E33">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sers\vardh\AppData\Local\Temp\claude\C--Mayo-Projects-research-co-pilot\ed8aac66-bc68-4af8-a2ce-7ca39eae2bf2\scratchpad\deck\img\refine.jpg" id="158" name="Google Shape;158;p7"/>
          <p:cNvPicPr preferRelativeResize="0"/>
          <p:nvPr/>
        </p:nvPicPr>
        <p:blipFill rotWithShape="1">
          <a:blip r:embed="rId4">
            <a:alphaModFix/>
          </a:blip>
          <a:srcRect b="0" l="0" r="0" t="0"/>
          <a:stretch/>
        </p:blipFill>
        <p:spPr>
          <a:xfrm>
            <a:off x="4700016" y="1371600"/>
            <a:ext cx="3931920" cy="2201875"/>
          </a:xfrm>
          <a:prstGeom prst="rect">
            <a:avLst/>
          </a:prstGeom>
          <a:noFill/>
          <a:ln>
            <a:noFill/>
          </a:ln>
        </p:spPr>
      </p:pic>
      <p:sp>
        <p:nvSpPr>
          <p:cNvPr id="159" name="Google Shape;159;p7"/>
          <p:cNvSpPr/>
          <p:nvPr/>
        </p:nvSpPr>
        <p:spPr>
          <a:xfrm>
            <a:off x="4645152" y="3822192"/>
            <a:ext cx="329184" cy="329184"/>
          </a:xfrm>
          <a:prstGeom prst="ellipse">
            <a:avLst/>
          </a:prstGeom>
          <a:solidFill>
            <a:srgbClr val="4F46E5"/>
          </a:solidFill>
          <a:ln cap="flat" cmpd="sng" w="12700">
            <a:solidFill>
              <a:srgbClr val="4F46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7"/>
          <p:cNvSpPr txBox="1"/>
          <p:nvPr/>
        </p:nvSpPr>
        <p:spPr>
          <a:xfrm>
            <a:off x="4645152" y="38221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1</a:t>
            </a:r>
            <a:endParaRPr b="0" i="0" sz="1200" u="none" cap="none" strike="noStrike">
              <a:solidFill>
                <a:schemeClr val="dk1"/>
              </a:solidFill>
              <a:latin typeface="Inter"/>
              <a:ea typeface="Inter"/>
              <a:cs typeface="Inter"/>
              <a:sym typeface="Inter"/>
            </a:endParaRPr>
          </a:p>
        </p:txBody>
      </p:sp>
      <p:sp>
        <p:nvSpPr>
          <p:cNvPr id="161" name="Google Shape;161;p7"/>
          <p:cNvSpPr txBox="1"/>
          <p:nvPr/>
        </p:nvSpPr>
        <p:spPr>
          <a:xfrm>
            <a:off x="5102352" y="3785616"/>
            <a:ext cx="3584448"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400"/>
              <a:buFont typeface="Poppins"/>
              <a:buNone/>
            </a:pPr>
            <a:r>
              <a:rPr b="1" i="0" lang="en-US" sz="1400" u="none" cap="none" strike="noStrike">
                <a:solidFill>
                  <a:srgbClr val="1B1E33"/>
                </a:solidFill>
                <a:latin typeface="Poppins"/>
                <a:ea typeface="Poppins"/>
                <a:cs typeface="Poppins"/>
                <a:sym typeface="Poppins"/>
              </a:rPr>
              <a:t>Interview</a:t>
            </a:r>
            <a:endParaRPr b="0" i="0" sz="1400" u="none" cap="none" strike="noStrike">
              <a:solidFill>
                <a:schemeClr val="dk1"/>
              </a:solidFill>
              <a:latin typeface="Inter"/>
              <a:ea typeface="Inter"/>
              <a:cs typeface="Inter"/>
              <a:sym typeface="Inter"/>
            </a:endParaRPr>
          </a:p>
          <a:p>
            <a:pPr indent="0" lvl="0" marL="0" marR="0" rtl="0" algn="l">
              <a:spcBef>
                <a:spcPts val="30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The AI asks multiple-choice questions, each built on your last answer</a:t>
            </a:r>
            <a:endParaRPr b="0" i="0" sz="1400" u="none" cap="none" strike="noStrike">
              <a:solidFill>
                <a:schemeClr val="dk1"/>
              </a:solidFill>
              <a:latin typeface="Inter"/>
              <a:ea typeface="Inter"/>
              <a:cs typeface="Inter"/>
              <a:sym typeface="Inter"/>
            </a:endParaRPr>
          </a:p>
        </p:txBody>
      </p:sp>
      <p:sp>
        <p:nvSpPr>
          <p:cNvPr id="162" name="Google Shape;162;p7"/>
          <p:cNvSpPr txBox="1"/>
          <p:nvPr>
            <p:ph idx="4294967295" type="sldNum"/>
          </p:nvPr>
        </p:nvSpPr>
        <p:spPr>
          <a:xfrm>
            <a:off x="822960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FA8"/>
                </a:solidFill>
                <a:latin typeface="Inter"/>
                <a:ea typeface="Inter"/>
                <a:cs typeface="Inter"/>
                <a:sym typeface="Inter"/>
              </a:rPr>
              <a:t>‹#›</a:t>
            </a:fld>
            <a:endParaRPr b="0" i="0" sz="900" u="none" cap="none" strike="noStrike">
              <a:solidFill>
                <a:srgbClr val="8A8FA8"/>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8"/>
          <p:cNvSpPr txBox="1"/>
          <p:nvPr/>
        </p:nvSpPr>
        <p:spPr>
          <a:xfrm>
            <a:off x="457200" y="292608"/>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1000"/>
              <a:buFont typeface="Inter"/>
              <a:buNone/>
            </a:pPr>
            <a:r>
              <a:rPr b="1" i="0" lang="en-US" sz="1000" u="none" cap="none" strike="noStrike">
                <a:solidFill>
                  <a:srgbClr val="4F46E5"/>
                </a:solidFill>
                <a:latin typeface="Inter"/>
                <a:ea typeface="Inter"/>
                <a:cs typeface="Inter"/>
                <a:sym typeface="Inter"/>
              </a:rPr>
              <a:t>5 · HOW IT WORKS · STEPS 2 AND 3</a:t>
            </a:r>
            <a:endParaRPr b="0" i="0" sz="1000" u="none" cap="none" strike="noStrike">
              <a:solidFill>
                <a:schemeClr val="dk1"/>
              </a:solidFill>
              <a:latin typeface="Inter"/>
              <a:ea typeface="Inter"/>
              <a:cs typeface="Inter"/>
              <a:sym typeface="Inter"/>
            </a:endParaRPr>
          </a:p>
        </p:txBody>
      </p:sp>
      <p:sp>
        <p:nvSpPr>
          <p:cNvPr id="169" name="Google Shape;169;p8"/>
          <p:cNvSpPr txBox="1"/>
          <p:nvPr/>
        </p:nvSpPr>
        <p:spPr>
          <a:xfrm>
            <a:off x="457200" y="530352"/>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2400"/>
              <a:buFont typeface="Poppins"/>
              <a:buNone/>
            </a:pPr>
            <a:r>
              <a:rPr b="1" i="0" lang="en-US" sz="2400" u="none" cap="none" strike="noStrike">
                <a:solidFill>
                  <a:srgbClr val="1B1E33"/>
                </a:solidFill>
                <a:latin typeface="Poppins"/>
                <a:ea typeface="Poppins"/>
                <a:cs typeface="Poppins"/>
                <a:sym typeface="Poppins"/>
              </a:rPr>
              <a:t>Check the plan, let the AI do the research</a:t>
            </a:r>
            <a:endParaRPr b="0" i="0" sz="2400" u="none" cap="none" strike="noStrike">
              <a:solidFill>
                <a:schemeClr val="dk1"/>
              </a:solidFill>
              <a:latin typeface="Inter"/>
              <a:ea typeface="Inter"/>
              <a:cs typeface="Inter"/>
              <a:sym typeface="Inter"/>
            </a:endParaRPr>
          </a:p>
        </p:txBody>
      </p:sp>
      <p:sp>
        <p:nvSpPr>
          <p:cNvPr id="170" name="Google Shape;170;p8"/>
          <p:cNvSpPr/>
          <p:nvPr/>
        </p:nvSpPr>
        <p:spPr>
          <a:xfrm>
            <a:off x="457200" y="1316736"/>
            <a:ext cx="4041648" cy="2311603"/>
          </a:xfrm>
          <a:prstGeom prst="roundRect">
            <a:avLst>
              <a:gd fmla="val 3956" name="adj"/>
            </a:avLst>
          </a:prstGeom>
          <a:solidFill>
            <a:srgbClr val="1E2238"/>
          </a:solidFill>
          <a:ln cap="flat" cmpd="sng" w="12700">
            <a:solidFill>
              <a:srgbClr val="1E2238"/>
            </a:solidFill>
            <a:prstDash val="solid"/>
            <a:round/>
            <a:headEnd len="sm" w="sm" type="none"/>
            <a:tailEnd len="sm" w="sm" type="none"/>
          </a:ln>
          <a:effectLst>
            <a:outerShdw blurRad="127000" rotWithShape="0" algn="bl" dir="5400000" dist="38100">
              <a:srgbClr val="1B1E33">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sers\vardh\AppData\Local\Temp\claude\C--Mayo-Projects-research-co-pilot\ed8aac66-bc68-4af8-a2ce-7ca39eae2bf2\scratchpad\deck\img\sources.jpg" id="171" name="Google Shape;171;p8"/>
          <p:cNvPicPr preferRelativeResize="0"/>
          <p:nvPr/>
        </p:nvPicPr>
        <p:blipFill rotWithShape="1">
          <a:blip r:embed="rId3">
            <a:alphaModFix/>
          </a:blip>
          <a:srcRect b="0" l="0" r="0" t="0"/>
          <a:stretch/>
        </p:blipFill>
        <p:spPr>
          <a:xfrm>
            <a:off x="512064" y="1371600"/>
            <a:ext cx="3931920" cy="2201875"/>
          </a:xfrm>
          <a:prstGeom prst="rect">
            <a:avLst/>
          </a:prstGeom>
          <a:noFill/>
          <a:ln>
            <a:noFill/>
          </a:ln>
        </p:spPr>
      </p:pic>
      <p:sp>
        <p:nvSpPr>
          <p:cNvPr id="172" name="Google Shape;172;p8"/>
          <p:cNvSpPr/>
          <p:nvPr/>
        </p:nvSpPr>
        <p:spPr>
          <a:xfrm>
            <a:off x="457200" y="3822192"/>
            <a:ext cx="329184" cy="329184"/>
          </a:xfrm>
          <a:prstGeom prst="ellipse">
            <a:avLst/>
          </a:prstGeom>
          <a:solidFill>
            <a:srgbClr val="4F46E5"/>
          </a:solidFill>
          <a:ln cap="flat" cmpd="sng" w="12700">
            <a:solidFill>
              <a:srgbClr val="4F46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txBox="1"/>
          <p:nvPr/>
        </p:nvSpPr>
        <p:spPr>
          <a:xfrm>
            <a:off x="457200" y="38221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2</a:t>
            </a:r>
            <a:endParaRPr b="0" i="0" sz="1200" u="none" cap="none" strike="noStrike">
              <a:solidFill>
                <a:schemeClr val="dk1"/>
              </a:solidFill>
              <a:latin typeface="Inter"/>
              <a:ea typeface="Inter"/>
              <a:cs typeface="Inter"/>
              <a:sym typeface="Inter"/>
            </a:endParaRPr>
          </a:p>
        </p:txBody>
      </p:sp>
      <p:sp>
        <p:nvSpPr>
          <p:cNvPr id="174" name="Google Shape;174;p8"/>
          <p:cNvSpPr txBox="1"/>
          <p:nvPr/>
        </p:nvSpPr>
        <p:spPr>
          <a:xfrm>
            <a:off x="914400" y="3785616"/>
            <a:ext cx="3584448"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400"/>
              <a:buFont typeface="Poppins"/>
              <a:buNone/>
            </a:pPr>
            <a:r>
              <a:rPr b="1" i="0" lang="en-US" sz="1400" u="none" cap="none" strike="noStrike">
                <a:solidFill>
                  <a:srgbClr val="1B1E33"/>
                </a:solidFill>
                <a:latin typeface="Poppins"/>
                <a:ea typeface="Poppins"/>
                <a:cs typeface="Poppins"/>
                <a:sym typeface="Poppins"/>
              </a:rPr>
              <a:t>Your plan</a:t>
            </a:r>
            <a:endParaRPr b="0" i="0" sz="1400" u="none" cap="none" strike="noStrike">
              <a:solidFill>
                <a:schemeClr val="dk1"/>
              </a:solidFill>
              <a:latin typeface="Inter"/>
              <a:ea typeface="Inter"/>
              <a:cs typeface="Inter"/>
              <a:sym typeface="Inter"/>
            </a:endParaRPr>
          </a:p>
          <a:p>
            <a:pPr indent="0" lvl="0" marL="0" marR="0" rtl="0" algn="l">
              <a:spcBef>
                <a:spcPts val="30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See the research question your answers add up to, and change any answer</a:t>
            </a:r>
            <a:endParaRPr b="0" i="0" sz="1400" u="none" cap="none" strike="noStrike">
              <a:solidFill>
                <a:schemeClr val="dk1"/>
              </a:solidFill>
              <a:latin typeface="Inter"/>
              <a:ea typeface="Inter"/>
              <a:cs typeface="Inter"/>
              <a:sym typeface="Inter"/>
            </a:endParaRPr>
          </a:p>
        </p:txBody>
      </p:sp>
      <p:sp>
        <p:nvSpPr>
          <p:cNvPr id="175" name="Google Shape;175;p8"/>
          <p:cNvSpPr/>
          <p:nvPr/>
        </p:nvSpPr>
        <p:spPr>
          <a:xfrm>
            <a:off x="4645152" y="1316736"/>
            <a:ext cx="4041648" cy="2311603"/>
          </a:xfrm>
          <a:prstGeom prst="roundRect">
            <a:avLst>
              <a:gd fmla="val 3956" name="adj"/>
            </a:avLst>
          </a:prstGeom>
          <a:solidFill>
            <a:srgbClr val="1E2238"/>
          </a:solidFill>
          <a:ln cap="flat" cmpd="sng" w="12700">
            <a:solidFill>
              <a:srgbClr val="1E2238"/>
            </a:solidFill>
            <a:prstDash val="solid"/>
            <a:round/>
            <a:headEnd len="sm" w="sm" type="none"/>
            <a:tailEnd len="sm" w="sm" type="none"/>
          </a:ln>
          <a:effectLst>
            <a:outerShdw blurRad="127000" rotWithShape="0" algn="bl" dir="5400000" dist="38100">
              <a:srgbClr val="1B1E33">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sers\vardh\AppData\Local\Temp\claude\C--Mayo-Projects-research-co-pilot\ed8aac66-bc68-4af8-a2ce-7ca39eae2bf2\scratchpad\deck\img\notes.jpg" id="176" name="Google Shape;176;p8"/>
          <p:cNvPicPr preferRelativeResize="0"/>
          <p:nvPr/>
        </p:nvPicPr>
        <p:blipFill rotWithShape="1">
          <a:blip r:embed="rId4">
            <a:alphaModFix/>
          </a:blip>
          <a:srcRect b="0" l="0" r="0" t="0"/>
          <a:stretch/>
        </p:blipFill>
        <p:spPr>
          <a:xfrm>
            <a:off x="4700016" y="1371600"/>
            <a:ext cx="3931920" cy="2201875"/>
          </a:xfrm>
          <a:prstGeom prst="rect">
            <a:avLst/>
          </a:prstGeom>
          <a:noFill/>
          <a:ln>
            <a:noFill/>
          </a:ln>
        </p:spPr>
      </p:pic>
      <p:sp>
        <p:nvSpPr>
          <p:cNvPr id="177" name="Google Shape;177;p8"/>
          <p:cNvSpPr/>
          <p:nvPr/>
        </p:nvSpPr>
        <p:spPr>
          <a:xfrm>
            <a:off x="4645152" y="3822192"/>
            <a:ext cx="329184" cy="329184"/>
          </a:xfrm>
          <a:prstGeom prst="ellipse">
            <a:avLst/>
          </a:prstGeom>
          <a:solidFill>
            <a:srgbClr val="4F46E5"/>
          </a:solidFill>
          <a:ln cap="flat" cmpd="sng" w="12700">
            <a:solidFill>
              <a:srgbClr val="4F46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
          <p:cNvSpPr txBox="1"/>
          <p:nvPr/>
        </p:nvSpPr>
        <p:spPr>
          <a:xfrm>
            <a:off x="4645152" y="38221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3</a:t>
            </a:r>
            <a:endParaRPr b="0" i="0" sz="1200" u="none" cap="none" strike="noStrike">
              <a:solidFill>
                <a:schemeClr val="dk1"/>
              </a:solidFill>
              <a:latin typeface="Inter"/>
              <a:ea typeface="Inter"/>
              <a:cs typeface="Inter"/>
              <a:sym typeface="Inter"/>
            </a:endParaRPr>
          </a:p>
        </p:txBody>
      </p:sp>
      <p:sp>
        <p:nvSpPr>
          <p:cNvPr id="179" name="Google Shape;179;p8"/>
          <p:cNvSpPr txBox="1"/>
          <p:nvPr/>
        </p:nvSpPr>
        <p:spPr>
          <a:xfrm>
            <a:off x="5102352" y="3785616"/>
            <a:ext cx="3584448"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400"/>
              <a:buFont typeface="Poppins"/>
              <a:buNone/>
            </a:pPr>
            <a:r>
              <a:rPr b="1" i="0" lang="en-US" sz="1400" u="none" cap="none" strike="noStrike">
                <a:solidFill>
                  <a:srgbClr val="1B1E33"/>
                </a:solidFill>
                <a:latin typeface="Poppins"/>
                <a:ea typeface="Poppins"/>
                <a:cs typeface="Poppins"/>
                <a:sym typeface="Poppins"/>
              </a:rPr>
              <a:t>AI research</a:t>
            </a:r>
            <a:endParaRPr b="0" i="0" sz="1400" u="none" cap="none" strike="noStrike">
              <a:solidFill>
                <a:schemeClr val="dk1"/>
              </a:solidFill>
              <a:latin typeface="Inter"/>
              <a:ea typeface="Inter"/>
              <a:cs typeface="Inter"/>
              <a:sym typeface="Inter"/>
            </a:endParaRPr>
          </a:p>
          <a:p>
            <a:pPr indent="0" lvl="0" marL="0" marR="0" rtl="0" algn="l">
              <a:spcBef>
                <a:spcPts val="30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Finds trusted sources, takes notes, plans and writes every section</a:t>
            </a:r>
            <a:endParaRPr b="0" i="0" sz="1400" u="none" cap="none" strike="noStrike">
              <a:solidFill>
                <a:schemeClr val="dk1"/>
              </a:solidFill>
              <a:latin typeface="Inter"/>
              <a:ea typeface="Inter"/>
              <a:cs typeface="Inter"/>
              <a:sym typeface="Inter"/>
            </a:endParaRPr>
          </a:p>
        </p:txBody>
      </p:sp>
      <p:sp>
        <p:nvSpPr>
          <p:cNvPr id="180" name="Google Shape;180;p8"/>
          <p:cNvSpPr txBox="1"/>
          <p:nvPr>
            <p:ph idx="4294967295" type="sldNum"/>
          </p:nvPr>
        </p:nvSpPr>
        <p:spPr>
          <a:xfrm>
            <a:off x="822960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FA8"/>
                </a:solidFill>
                <a:latin typeface="Inter"/>
                <a:ea typeface="Inter"/>
                <a:cs typeface="Inter"/>
                <a:sym typeface="Inter"/>
              </a:rPr>
              <a:t>‹#›</a:t>
            </a:fld>
            <a:endParaRPr b="0" i="0" sz="900" u="none" cap="none" strike="noStrike">
              <a:solidFill>
                <a:srgbClr val="8A8FA8"/>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9"/>
          <p:cNvSpPr txBox="1"/>
          <p:nvPr/>
        </p:nvSpPr>
        <p:spPr>
          <a:xfrm>
            <a:off x="457200" y="292608"/>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1000"/>
              <a:buFont typeface="Inter"/>
              <a:buNone/>
            </a:pPr>
            <a:r>
              <a:rPr b="1" i="0" lang="en-US" sz="1000" u="none" cap="none" strike="noStrike">
                <a:solidFill>
                  <a:srgbClr val="4F46E5"/>
                </a:solidFill>
                <a:latin typeface="Inter"/>
                <a:ea typeface="Inter"/>
                <a:cs typeface="Inter"/>
                <a:sym typeface="Inter"/>
              </a:rPr>
              <a:t>5 · HOW IT WORKS · STEPS 4 AND 5</a:t>
            </a:r>
            <a:endParaRPr b="0" i="0" sz="1000" u="none" cap="none" strike="noStrike">
              <a:solidFill>
                <a:schemeClr val="dk1"/>
              </a:solidFill>
              <a:latin typeface="Inter"/>
              <a:ea typeface="Inter"/>
              <a:cs typeface="Inter"/>
              <a:sym typeface="Inter"/>
            </a:endParaRPr>
          </a:p>
        </p:txBody>
      </p:sp>
      <p:sp>
        <p:nvSpPr>
          <p:cNvPr id="187" name="Google Shape;187;p9"/>
          <p:cNvSpPr txBox="1"/>
          <p:nvPr/>
        </p:nvSpPr>
        <p:spPr>
          <a:xfrm>
            <a:off x="457200" y="530352"/>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2400"/>
              <a:buFont typeface="Poppins"/>
              <a:buNone/>
            </a:pPr>
            <a:r>
              <a:rPr b="1" i="0" lang="en-US" sz="2400" u="none" cap="none" strike="noStrike">
                <a:solidFill>
                  <a:srgbClr val="1B1E33"/>
                </a:solidFill>
                <a:latin typeface="Poppins"/>
                <a:ea typeface="Poppins"/>
                <a:cs typeface="Poppins"/>
                <a:sym typeface="Poppins"/>
              </a:rPr>
              <a:t>A real research paper, ready to read</a:t>
            </a:r>
            <a:endParaRPr b="0" i="0" sz="2400" u="none" cap="none" strike="noStrike">
              <a:solidFill>
                <a:schemeClr val="dk1"/>
              </a:solidFill>
              <a:latin typeface="Inter"/>
              <a:ea typeface="Inter"/>
              <a:cs typeface="Inter"/>
              <a:sym typeface="Inter"/>
            </a:endParaRPr>
          </a:p>
        </p:txBody>
      </p:sp>
      <p:sp>
        <p:nvSpPr>
          <p:cNvPr id="188" name="Google Shape;188;p9"/>
          <p:cNvSpPr/>
          <p:nvPr/>
        </p:nvSpPr>
        <p:spPr>
          <a:xfrm>
            <a:off x="457200" y="1316736"/>
            <a:ext cx="4041648" cy="2311603"/>
          </a:xfrm>
          <a:prstGeom prst="roundRect">
            <a:avLst>
              <a:gd fmla="val 3956" name="adj"/>
            </a:avLst>
          </a:prstGeom>
          <a:solidFill>
            <a:srgbClr val="1E2238"/>
          </a:solidFill>
          <a:ln cap="flat" cmpd="sng" w="12700">
            <a:solidFill>
              <a:srgbClr val="1E2238"/>
            </a:solidFill>
            <a:prstDash val="solid"/>
            <a:round/>
            <a:headEnd len="sm" w="sm" type="none"/>
            <a:tailEnd len="sm" w="sm" type="none"/>
          </a:ln>
          <a:effectLst>
            <a:outerShdw blurRad="127000" rotWithShape="0" algn="bl" dir="5400000" dist="38100">
              <a:srgbClr val="1B1E33">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sers\vardh\AppData\Local\Temp\claude\C--Mayo-Projects-research-co-pilot\ed8aac66-bc68-4af8-a2ce-7ca39eae2bf2\scratchpad\deck\img\outline.jpg" id="189" name="Google Shape;189;p9"/>
          <p:cNvPicPr preferRelativeResize="0"/>
          <p:nvPr/>
        </p:nvPicPr>
        <p:blipFill rotWithShape="1">
          <a:blip r:embed="rId3">
            <a:alphaModFix/>
          </a:blip>
          <a:srcRect b="0" l="0" r="0" t="0"/>
          <a:stretch/>
        </p:blipFill>
        <p:spPr>
          <a:xfrm>
            <a:off x="512064" y="1371600"/>
            <a:ext cx="3931920" cy="2201875"/>
          </a:xfrm>
          <a:prstGeom prst="rect">
            <a:avLst/>
          </a:prstGeom>
          <a:noFill/>
          <a:ln>
            <a:noFill/>
          </a:ln>
        </p:spPr>
      </p:pic>
      <p:sp>
        <p:nvSpPr>
          <p:cNvPr id="190" name="Google Shape;190;p9"/>
          <p:cNvSpPr/>
          <p:nvPr/>
        </p:nvSpPr>
        <p:spPr>
          <a:xfrm>
            <a:off x="457200" y="3822192"/>
            <a:ext cx="329184" cy="329184"/>
          </a:xfrm>
          <a:prstGeom prst="ellipse">
            <a:avLst/>
          </a:prstGeom>
          <a:solidFill>
            <a:srgbClr val="4F46E5"/>
          </a:solidFill>
          <a:ln cap="flat" cmpd="sng" w="12700">
            <a:solidFill>
              <a:srgbClr val="4F46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txBox="1"/>
          <p:nvPr/>
        </p:nvSpPr>
        <p:spPr>
          <a:xfrm>
            <a:off x="457200" y="38221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4</a:t>
            </a:r>
            <a:endParaRPr b="0" i="0" sz="1200" u="none" cap="none" strike="noStrike">
              <a:solidFill>
                <a:schemeClr val="dk1"/>
              </a:solidFill>
              <a:latin typeface="Inter"/>
              <a:ea typeface="Inter"/>
              <a:cs typeface="Inter"/>
              <a:sym typeface="Inter"/>
            </a:endParaRPr>
          </a:p>
        </p:txBody>
      </p:sp>
      <p:sp>
        <p:nvSpPr>
          <p:cNvPr id="192" name="Google Shape;192;p9"/>
          <p:cNvSpPr txBox="1"/>
          <p:nvPr/>
        </p:nvSpPr>
        <p:spPr>
          <a:xfrm>
            <a:off x="914400" y="3785616"/>
            <a:ext cx="3584448"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400"/>
              <a:buFont typeface="Poppins"/>
              <a:buNone/>
            </a:pPr>
            <a:r>
              <a:rPr b="1" i="0" lang="en-US" sz="1400" u="none" cap="none" strike="noStrike">
                <a:solidFill>
                  <a:srgbClr val="1B1E33"/>
                </a:solidFill>
                <a:latin typeface="Poppins"/>
                <a:ea typeface="Poppins"/>
                <a:cs typeface="Poppins"/>
                <a:sym typeface="Poppins"/>
              </a:rPr>
              <a:t>Paper view</a:t>
            </a:r>
            <a:endParaRPr b="0" i="0" sz="1400" u="none" cap="none" strike="noStrike">
              <a:solidFill>
                <a:schemeClr val="dk1"/>
              </a:solidFill>
              <a:latin typeface="Inter"/>
              <a:ea typeface="Inter"/>
              <a:cs typeface="Inter"/>
              <a:sym typeface="Inter"/>
            </a:endParaRPr>
          </a:p>
          <a:p>
            <a:pPr indent="0" lvl="0" marL="0" marR="0" rtl="0" algn="l">
              <a:spcBef>
                <a:spcPts val="30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Journal-style pages with an abstract, two columns and references</a:t>
            </a:r>
            <a:endParaRPr b="0" i="0" sz="1400" u="none" cap="none" strike="noStrike">
              <a:solidFill>
                <a:schemeClr val="dk1"/>
              </a:solidFill>
              <a:latin typeface="Inter"/>
              <a:ea typeface="Inter"/>
              <a:cs typeface="Inter"/>
              <a:sym typeface="Inter"/>
            </a:endParaRPr>
          </a:p>
        </p:txBody>
      </p:sp>
      <p:sp>
        <p:nvSpPr>
          <p:cNvPr id="193" name="Google Shape;193;p9"/>
          <p:cNvSpPr/>
          <p:nvPr/>
        </p:nvSpPr>
        <p:spPr>
          <a:xfrm>
            <a:off x="4645152" y="1316736"/>
            <a:ext cx="4041648" cy="2311603"/>
          </a:xfrm>
          <a:prstGeom prst="roundRect">
            <a:avLst>
              <a:gd fmla="val 3956" name="adj"/>
            </a:avLst>
          </a:prstGeom>
          <a:solidFill>
            <a:srgbClr val="1E2238"/>
          </a:solidFill>
          <a:ln cap="flat" cmpd="sng" w="12700">
            <a:solidFill>
              <a:srgbClr val="1E2238"/>
            </a:solidFill>
            <a:prstDash val="solid"/>
            <a:round/>
            <a:headEnd len="sm" w="sm" type="none"/>
            <a:tailEnd len="sm" w="sm" type="none"/>
          </a:ln>
          <a:effectLst>
            <a:outerShdw blurRad="127000" rotWithShape="0" algn="bl" dir="5400000" dist="38100">
              <a:srgbClr val="1B1E33">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sers\vardh\AppData\Local\Temp\claude\C--Mayo-Projects-research-co-pilot\ed8aac66-bc68-4af8-a2ce-7ca39eae2bf2\scratchpad\deck\img\write.jpg" id="194" name="Google Shape;194;p9"/>
          <p:cNvPicPr preferRelativeResize="0"/>
          <p:nvPr/>
        </p:nvPicPr>
        <p:blipFill rotWithShape="1">
          <a:blip r:embed="rId4">
            <a:alphaModFix/>
          </a:blip>
          <a:srcRect b="0" l="0" r="0" t="0"/>
          <a:stretch/>
        </p:blipFill>
        <p:spPr>
          <a:xfrm>
            <a:off x="4700016" y="1371600"/>
            <a:ext cx="3931920" cy="2201875"/>
          </a:xfrm>
          <a:prstGeom prst="rect">
            <a:avLst/>
          </a:prstGeom>
          <a:noFill/>
          <a:ln>
            <a:noFill/>
          </a:ln>
        </p:spPr>
      </p:pic>
      <p:sp>
        <p:nvSpPr>
          <p:cNvPr id="195" name="Google Shape;195;p9"/>
          <p:cNvSpPr/>
          <p:nvPr/>
        </p:nvSpPr>
        <p:spPr>
          <a:xfrm>
            <a:off x="4645152" y="3822192"/>
            <a:ext cx="329184" cy="329184"/>
          </a:xfrm>
          <a:prstGeom prst="ellipse">
            <a:avLst/>
          </a:prstGeom>
          <a:solidFill>
            <a:srgbClr val="4F46E5"/>
          </a:solidFill>
          <a:ln cap="flat" cmpd="sng" w="12700">
            <a:solidFill>
              <a:srgbClr val="4F46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txBox="1"/>
          <p:nvPr/>
        </p:nvSpPr>
        <p:spPr>
          <a:xfrm>
            <a:off x="4645152" y="382219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a:buNone/>
            </a:pPr>
            <a:r>
              <a:rPr b="1" i="0" lang="en-US" sz="1200" u="none" cap="none" strike="noStrike">
                <a:solidFill>
                  <a:srgbClr val="FFFFFF"/>
                </a:solidFill>
                <a:latin typeface="Poppins"/>
                <a:ea typeface="Poppins"/>
                <a:cs typeface="Poppins"/>
                <a:sym typeface="Poppins"/>
              </a:rPr>
              <a:t>5</a:t>
            </a:r>
            <a:endParaRPr b="0" i="0" sz="1200" u="none" cap="none" strike="noStrike">
              <a:solidFill>
                <a:schemeClr val="dk1"/>
              </a:solidFill>
              <a:latin typeface="Inter"/>
              <a:ea typeface="Inter"/>
              <a:cs typeface="Inter"/>
              <a:sym typeface="Inter"/>
            </a:endParaRPr>
          </a:p>
        </p:txBody>
      </p:sp>
      <p:sp>
        <p:nvSpPr>
          <p:cNvPr id="197" name="Google Shape;197;p9"/>
          <p:cNvSpPr txBox="1"/>
          <p:nvPr/>
        </p:nvSpPr>
        <p:spPr>
          <a:xfrm>
            <a:off x="5102352" y="3785616"/>
            <a:ext cx="3584448"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400"/>
              <a:buFont typeface="Poppins"/>
              <a:buNone/>
            </a:pPr>
            <a:r>
              <a:rPr b="1" i="0" lang="en-US" sz="1400" u="none" cap="none" strike="noStrike">
                <a:solidFill>
                  <a:srgbClr val="1B1E33"/>
                </a:solidFill>
                <a:latin typeface="Poppins"/>
                <a:ea typeface="Poppins"/>
                <a:cs typeface="Poppins"/>
                <a:sym typeface="Poppins"/>
              </a:rPr>
              <a:t>Your style</a:t>
            </a:r>
            <a:endParaRPr b="0" i="0" sz="1400" u="none" cap="none" strike="noStrike">
              <a:solidFill>
                <a:schemeClr val="dk1"/>
              </a:solidFill>
              <a:latin typeface="Inter"/>
              <a:ea typeface="Inter"/>
              <a:cs typeface="Inter"/>
              <a:sym typeface="Inter"/>
            </a:endParaRPr>
          </a:p>
          <a:p>
            <a:pPr indent="0" lvl="0" marL="0" marR="0" rtl="0" algn="l">
              <a:spcBef>
                <a:spcPts val="30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APA, MLA or IEEE: the citations and reference list change in one click</a:t>
            </a:r>
            <a:endParaRPr b="0" i="0" sz="1400" u="none" cap="none" strike="noStrike">
              <a:solidFill>
                <a:schemeClr val="dk1"/>
              </a:solidFill>
              <a:latin typeface="Inter"/>
              <a:ea typeface="Inter"/>
              <a:cs typeface="Inter"/>
              <a:sym typeface="Inter"/>
            </a:endParaRPr>
          </a:p>
        </p:txBody>
      </p:sp>
      <p:sp>
        <p:nvSpPr>
          <p:cNvPr id="198" name="Google Shape;198;p9"/>
          <p:cNvSpPr txBox="1"/>
          <p:nvPr>
            <p:ph idx="4294967295" type="sldNum"/>
          </p:nvPr>
        </p:nvSpPr>
        <p:spPr>
          <a:xfrm>
            <a:off x="822960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FA8"/>
                </a:solidFill>
                <a:latin typeface="Inter"/>
                <a:ea typeface="Inter"/>
                <a:cs typeface="Inter"/>
                <a:sym typeface="Inter"/>
              </a:rPr>
              <a:t>‹#›</a:t>
            </a:fld>
            <a:endParaRPr b="0" i="0" sz="900" u="none" cap="none" strike="noStrike">
              <a:solidFill>
                <a:srgbClr val="8A8FA8"/>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0"/>
          <p:cNvSpPr txBox="1"/>
          <p:nvPr/>
        </p:nvSpPr>
        <p:spPr>
          <a:xfrm>
            <a:off x="457200" y="292608"/>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1000"/>
              <a:buFont typeface="Inter"/>
              <a:buNone/>
            </a:pPr>
            <a:r>
              <a:rPr b="1" i="0" lang="en-US" sz="1000" u="none" cap="none" strike="noStrike">
                <a:solidFill>
                  <a:srgbClr val="4F46E5"/>
                </a:solidFill>
                <a:latin typeface="Inter"/>
                <a:ea typeface="Inter"/>
                <a:cs typeface="Inter"/>
                <a:sym typeface="Inter"/>
              </a:rPr>
              <a:t>5 · HOW IT WORKS · STEP 6</a:t>
            </a:r>
            <a:endParaRPr b="0" i="0" sz="1000" u="none" cap="none" strike="noStrike">
              <a:solidFill>
                <a:schemeClr val="dk1"/>
              </a:solidFill>
              <a:latin typeface="Inter"/>
              <a:ea typeface="Inter"/>
              <a:cs typeface="Inter"/>
              <a:sym typeface="Inter"/>
            </a:endParaRPr>
          </a:p>
        </p:txBody>
      </p:sp>
      <p:sp>
        <p:nvSpPr>
          <p:cNvPr id="205" name="Google Shape;205;p10"/>
          <p:cNvSpPr txBox="1"/>
          <p:nvPr/>
        </p:nvSpPr>
        <p:spPr>
          <a:xfrm>
            <a:off x="457200" y="530352"/>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2400"/>
              <a:buFont typeface="Poppins"/>
              <a:buNone/>
            </a:pPr>
            <a:r>
              <a:rPr b="1" i="0" lang="en-US" sz="2400" u="none" cap="none" strike="noStrike">
                <a:solidFill>
                  <a:srgbClr val="1B1E33"/>
                </a:solidFill>
                <a:latin typeface="Poppins"/>
                <a:ea typeface="Poppins"/>
                <a:cs typeface="Poppins"/>
                <a:sym typeface="Poppins"/>
              </a:rPr>
              <a:t>Check your work before you hand it in</a:t>
            </a:r>
            <a:endParaRPr b="0" i="0" sz="2400" u="none" cap="none" strike="noStrike">
              <a:solidFill>
                <a:schemeClr val="dk1"/>
              </a:solidFill>
              <a:latin typeface="Inter"/>
              <a:ea typeface="Inter"/>
              <a:cs typeface="Inter"/>
              <a:sym typeface="Inter"/>
            </a:endParaRPr>
          </a:p>
        </p:txBody>
      </p:sp>
      <p:sp>
        <p:nvSpPr>
          <p:cNvPr id="206" name="Google Shape;206;p10"/>
          <p:cNvSpPr/>
          <p:nvPr/>
        </p:nvSpPr>
        <p:spPr>
          <a:xfrm>
            <a:off x="457200" y="1316736"/>
            <a:ext cx="5047488" cy="2874874"/>
          </a:xfrm>
          <a:prstGeom prst="roundRect">
            <a:avLst>
              <a:gd fmla="val 3181" name="adj"/>
            </a:avLst>
          </a:prstGeom>
          <a:solidFill>
            <a:srgbClr val="1E2238"/>
          </a:solidFill>
          <a:ln cap="flat" cmpd="sng" w="12700">
            <a:solidFill>
              <a:srgbClr val="1E2238"/>
            </a:solidFill>
            <a:prstDash val="solid"/>
            <a:round/>
            <a:headEnd len="sm" w="sm" type="none"/>
            <a:tailEnd len="sm" w="sm" type="none"/>
          </a:ln>
          <a:effectLst>
            <a:outerShdw blurRad="127000" rotWithShape="0" algn="bl" dir="5400000" dist="38100">
              <a:srgbClr val="1B1E33">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Users\vardh\AppData\Local\Temp\claude\C--Mayo-Projects-research-co-pilot\ed8aac66-bc68-4af8-a2ce-7ca39eae2bf2\scratchpad\deck\img\review.jpg" id="207" name="Google Shape;207;p10"/>
          <p:cNvPicPr preferRelativeResize="0"/>
          <p:nvPr/>
        </p:nvPicPr>
        <p:blipFill rotWithShape="1">
          <a:blip r:embed="rId3">
            <a:alphaModFix/>
          </a:blip>
          <a:srcRect b="0" l="0" r="0" t="0"/>
          <a:stretch/>
        </p:blipFill>
        <p:spPr>
          <a:xfrm>
            <a:off x="512064" y="1371600"/>
            <a:ext cx="4937760" cy="2765146"/>
          </a:xfrm>
          <a:prstGeom prst="rect">
            <a:avLst/>
          </a:prstGeom>
          <a:noFill/>
          <a:ln>
            <a:noFill/>
          </a:ln>
        </p:spPr>
      </p:pic>
      <p:pic>
        <p:nvPicPr>
          <p:cNvPr descr="preencoded.png" id="208" name="Google Shape;208;p10"/>
          <p:cNvPicPr preferRelativeResize="0"/>
          <p:nvPr/>
        </p:nvPicPr>
        <p:blipFill rotWithShape="1">
          <a:blip r:embed="rId4">
            <a:alphaModFix/>
          </a:blip>
          <a:srcRect b="0" l="0" r="0" t="0"/>
          <a:stretch/>
        </p:blipFill>
        <p:spPr>
          <a:xfrm>
            <a:off x="5852160" y="1353312"/>
            <a:ext cx="292608" cy="292608"/>
          </a:xfrm>
          <a:prstGeom prst="rect">
            <a:avLst/>
          </a:prstGeom>
          <a:noFill/>
          <a:ln>
            <a:noFill/>
          </a:ln>
        </p:spPr>
      </p:pic>
      <p:sp>
        <p:nvSpPr>
          <p:cNvPr id="209" name="Google Shape;209;p10"/>
          <p:cNvSpPr txBox="1"/>
          <p:nvPr/>
        </p:nvSpPr>
        <p:spPr>
          <a:xfrm>
            <a:off x="6263640" y="1325880"/>
            <a:ext cx="24231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300"/>
              <a:buFont typeface="Poppins"/>
              <a:buNone/>
            </a:pPr>
            <a:r>
              <a:rPr b="1" i="0" lang="en-US" sz="1300" u="none" cap="none" strike="noStrike">
                <a:solidFill>
                  <a:srgbClr val="1B1E33"/>
                </a:solidFill>
                <a:latin typeface="Poppins"/>
                <a:ea typeface="Poppins"/>
                <a:cs typeface="Poppins"/>
                <a:sym typeface="Poppins"/>
              </a:rPr>
              <a:t>Originality</a:t>
            </a:r>
            <a:endParaRPr b="0" i="0" sz="1300" u="none" cap="none" strike="noStrike">
              <a:solidFill>
                <a:schemeClr val="dk1"/>
              </a:solidFill>
              <a:latin typeface="Inter"/>
              <a:ea typeface="Inter"/>
              <a:cs typeface="Inter"/>
              <a:sym typeface="Inter"/>
            </a:endParaRPr>
          </a:p>
          <a:p>
            <a:pPr indent="0" lvl="0" marL="0" marR="0" rtl="0" algn="l">
              <a:spcBef>
                <a:spcPts val="20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Flags sentences too close to a source</a:t>
            </a:r>
            <a:endParaRPr b="0" i="0" sz="1300" u="none" cap="none" strike="noStrike">
              <a:solidFill>
                <a:schemeClr val="dk1"/>
              </a:solidFill>
              <a:latin typeface="Inter"/>
              <a:ea typeface="Inter"/>
              <a:cs typeface="Inter"/>
              <a:sym typeface="Inter"/>
            </a:endParaRPr>
          </a:p>
        </p:txBody>
      </p:sp>
      <p:pic>
        <p:nvPicPr>
          <p:cNvPr descr="preencoded.png" id="210" name="Google Shape;210;p10"/>
          <p:cNvPicPr preferRelativeResize="0"/>
          <p:nvPr/>
        </p:nvPicPr>
        <p:blipFill rotWithShape="1">
          <a:blip r:embed="rId4">
            <a:alphaModFix/>
          </a:blip>
          <a:srcRect b="0" l="0" r="0" t="0"/>
          <a:stretch/>
        </p:blipFill>
        <p:spPr>
          <a:xfrm>
            <a:off x="5852160" y="2130552"/>
            <a:ext cx="292608" cy="292608"/>
          </a:xfrm>
          <a:prstGeom prst="rect">
            <a:avLst/>
          </a:prstGeom>
          <a:noFill/>
          <a:ln>
            <a:noFill/>
          </a:ln>
        </p:spPr>
      </p:pic>
      <p:sp>
        <p:nvSpPr>
          <p:cNvPr id="211" name="Google Shape;211;p10"/>
          <p:cNvSpPr txBox="1"/>
          <p:nvPr/>
        </p:nvSpPr>
        <p:spPr>
          <a:xfrm>
            <a:off x="6263640" y="2103120"/>
            <a:ext cx="24231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300"/>
              <a:buFont typeface="Poppins"/>
              <a:buNone/>
            </a:pPr>
            <a:r>
              <a:rPr b="1" i="0" lang="en-US" sz="1300" u="none" cap="none" strike="noStrike">
                <a:solidFill>
                  <a:srgbClr val="1B1E33"/>
                </a:solidFill>
                <a:latin typeface="Poppins"/>
                <a:ea typeface="Poppins"/>
                <a:cs typeface="Poppins"/>
                <a:sym typeface="Poppins"/>
              </a:rPr>
              <a:t>Citations verified</a:t>
            </a:r>
            <a:endParaRPr b="0" i="0" sz="1300" u="none" cap="none" strike="noStrike">
              <a:solidFill>
                <a:schemeClr val="dk1"/>
              </a:solidFill>
              <a:latin typeface="Inter"/>
              <a:ea typeface="Inter"/>
              <a:cs typeface="Inter"/>
              <a:sym typeface="Inter"/>
            </a:endParaRPr>
          </a:p>
          <a:p>
            <a:pPr indent="0" lvl="0" marL="0" marR="0" rtl="0" algn="l">
              <a:spcBef>
                <a:spcPts val="20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The Verification Agent checks each claim</a:t>
            </a:r>
            <a:endParaRPr b="0" i="0" sz="1300" u="none" cap="none" strike="noStrike">
              <a:solidFill>
                <a:schemeClr val="dk1"/>
              </a:solidFill>
              <a:latin typeface="Inter"/>
              <a:ea typeface="Inter"/>
              <a:cs typeface="Inter"/>
              <a:sym typeface="Inter"/>
            </a:endParaRPr>
          </a:p>
        </p:txBody>
      </p:sp>
      <p:pic>
        <p:nvPicPr>
          <p:cNvPr descr="preencoded.png" id="212" name="Google Shape;212;p10"/>
          <p:cNvPicPr preferRelativeResize="0"/>
          <p:nvPr/>
        </p:nvPicPr>
        <p:blipFill rotWithShape="1">
          <a:blip r:embed="rId4">
            <a:alphaModFix/>
          </a:blip>
          <a:srcRect b="0" l="0" r="0" t="0"/>
          <a:stretch/>
        </p:blipFill>
        <p:spPr>
          <a:xfrm>
            <a:off x="5852160" y="2907792"/>
            <a:ext cx="292608" cy="292608"/>
          </a:xfrm>
          <a:prstGeom prst="rect">
            <a:avLst/>
          </a:prstGeom>
          <a:noFill/>
          <a:ln>
            <a:noFill/>
          </a:ln>
        </p:spPr>
      </p:pic>
      <p:sp>
        <p:nvSpPr>
          <p:cNvPr id="213" name="Google Shape;213;p10"/>
          <p:cNvSpPr txBox="1"/>
          <p:nvPr/>
        </p:nvSpPr>
        <p:spPr>
          <a:xfrm>
            <a:off x="6263640" y="2880360"/>
            <a:ext cx="24231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300"/>
              <a:buFont typeface="Poppins"/>
              <a:buNone/>
            </a:pPr>
            <a:r>
              <a:rPr b="1" i="0" lang="en-US" sz="1300" u="none" cap="none" strike="noStrike">
                <a:solidFill>
                  <a:srgbClr val="1B1E33"/>
                </a:solidFill>
                <a:latin typeface="Poppins"/>
                <a:ea typeface="Poppins"/>
                <a:cs typeface="Poppins"/>
                <a:sym typeface="Poppins"/>
              </a:rPr>
              <a:t>Grammar and spelling</a:t>
            </a:r>
            <a:endParaRPr b="0" i="0" sz="1300" u="none" cap="none" strike="noStrike">
              <a:solidFill>
                <a:schemeClr val="dk1"/>
              </a:solidFill>
              <a:latin typeface="Inter"/>
              <a:ea typeface="Inter"/>
              <a:cs typeface="Inter"/>
              <a:sym typeface="Inter"/>
            </a:endParaRPr>
          </a:p>
          <a:p>
            <a:pPr indent="0" lvl="0" marL="0" marR="0" rtl="0" algn="l">
              <a:spcBef>
                <a:spcPts val="20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Catches mistakes before submission</a:t>
            </a:r>
            <a:endParaRPr b="0" i="0" sz="1300" u="none" cap="none" strike="noStrike">
              <a:solidFill>
                <a:schemeClr val="dk1"/>
              </a:solidFill>
              <a:latin typeface="Inter"/>
              <a:ea typeface="Inter"/>
              <a:cs typeface="Inter"/>
              <a:sym typeface="Inter"/>
            </a:endParaRPr>
          </a:p>
        </p:txBody>
      </p:sp>
      <p:pic>
        <p:nvPicPr>
          <p:cNvPr descr="preencoded.png" id="214" name="Google Shape;214;p10"/>
          <p:cNvPicPr preferRelativeResize="0"/>
          <p:nvPr/>
        </p:nvPicPr>
        <p:blipFill rotWithShape="1">
          <a:blip r:embed="rId4">
            <a:alphaModFix/>
          </a:blip>
          <a:srcRect b="0" l="0" r="0" t="0"/>
          <a:stretch/>
        </p:blipFill>
        <p:spPr>
          <a:xfrm>
            <a:off x="5852160" y="3685032"/>
            <a:ext cx="292608" cy="292608"/>
          </a:xfrm>
          <a:prstGeom prst="rect">
            <a:avLst/>
          </a:prstGeom>
          <a:noFill/>
          <a:ln>
            <a:noFill/>
          </a:ln>
        </p:spPr>
      </p:pic>
      <p:sp>
        <p:nvSpPr>
          <p:cNvPr id="215" name="Google Shape;215;p10"/>
          <p:cNvSpPr txBox="1"/>
          <p:nvPr/>
        </p:nvSpPr>
        <p:spPr>
          <a:xfrm>
            <a:off x="6263640" y="3657600"/>
            <a:ext cx="242316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300"/>
              <a:buFont typeface="Poppins"/>
              <a:buNone/>
            </a:pPr>
            <a:r>
              <a:rPr b="1" i="0" lang="en-US" sz="1300" u="none" cap="none" strike="noStrike">
                <a:solidFill>
                  <a:srgbClr val="1B1E33"/>
                </a:solidFill>
                <a:latin typeface="Poppins"/>
                <a:ea typeface="Poppins"/>
                <a:cs typeface="Poppins"/>
                <a:sym typeface="Poppins"/>
              </a:rPr>
              <a:t>Ready to hand in</a:t>
            </a:r>
            <a:endParaRPr b="0" i="0" sz="1300" u="none" cap="none" strike="noStrike">
              <a:solidFill>
                <a:schemeClr val="dk1"/>
              </a:solidFill>
              <a:latin typeface="Inter"/>
              <a:ea typeface="Inter"/>
              <a:cs typeface="Inter"/>
              <a:sym typeface="Inter"/>
            </a:endParaRPr>
          </a:p>
          <a:p>
            <a:pPr indent="0" lvl="0" marL="0" marR="0" rtl="0" algn="l">
              <a:spcBef>
                <a:spcPts val="20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APA, MLA or IEEE, to Word or PDF</a:t>
            </a:r>
            <a:endParaRPr b="0" i="0" sz="1300" u="none" cap="none" strike="noStrike">
              <a:solidFill>
                <a:schemeClr val="dk1"/>
              </a:solidFill>
              <a:latin typeface="Inter"/>
              <a:ea typeface="Inter"/>
              <a:cs typeface="Inter"/>
              <a:sym typeface="Inter"/>
            </a:endParaRPr>
          </a:p>
        </p:txBody>
      </p:sp>
      <p:sp>
        <p:nvSpPr>
          <p:cNvPr id="216" name="Google Shape;216;p10"/>
          <p:cNvSpPr txBox="1"/>
          <p:nvPr>
            <p:ph idx="4294967295" type="sldNum"/>
          </p:nvPr>
        </p:nvSpPr>
        <p:spPr>
          <a:xfrm>
            <a:off x="822960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FA8"/>
                </a:solidFill>
                <a:latin typeface="Inter"/>
                <a:ea typeface="Inter"/>
                <a:cs typeface="Inter"/>
                <a:sym typeface="Inter"/>
              </a:rPr>
              <a:t>‹#›</a:t>
            </a:fld>
            <a:endParaRPr b="0" i="0" sz="900" u="none" cap="none" strike="noStrike">
              <a:solidFill>
                <a:srgbClr val="8A8FA8"/>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1"/>
          <p:cNvSpPr txBox="1"/>
          <p:nvPr/>
        </p:nvSpPr>
        <p:spPr>
          <a:xfrm>
            <a:off x="457200" y="292608"/>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1000"/>
              <a:buFont typeface="Inter"/>
              <a:buNone/>
            </a:pPr>
            <a:r>
              <a:rPr b="1" i="0" lang="en-US" sz="1000" u="none" cap="none" strike="noStrike">
                <a:solidFill>
                  <a:srgbClr val="4F46E5"/>
                </a:solidFill>
                <a:latin typeface="Inter"/>
                <a:ea typeface="Inter"/>
                <a:cs typeface="Inter"/>
                <a:sym typeface="Inter"/>
              </a:rPr>
              <a:t>6 · BENEFITS TO USERS</a:t>
            </a:r>
            <a:endParaRPr b="0" i="0" sz="1000" u="none" cap="none" strike="noStrike">
              <a:solidFill>
                <a:schemeClr val="dk1"/>
              </a:solidFill>
              <a:latin typeface="Inter"/>
              <a:ea typeface="Inter"/>
              <a:cs typeface="Inter"/>
              <a:sym typeface="Inter"/>
            </a:endParaRPr>
          </a:p>
        </p:txBody>
      </p:sp>
      <p:sp>
        <p:nvSpPr>
          <p:cNvPr id="223" name="Google Shape;223;p11"/>
          <p:cNvSpPr txBox="1"/>
          <p:nvPr/>
        </p:nvSpPr>
        <p:spPr>
          <a:xfrm>
            <a:off x="457200" y="530352"/>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2400"/>
              <a:buFont typeface="Poppins"/>
              <a:buNone/>
            </a:pPr>
            <a:r>
              <a:rPr b="1" i="0" lang="en-US" sz="2400" u="none" cap="none" strike="noStrike">
                <a:solidFill>
                  <a:srgbClr val="1B1E33"/>
                </a:solidFill>
                <a:latin typeface="Poppins"/>
                <a:ea typeface="Poppins"/>
                <a:cs typeface="Poppins"/>
                <a:sym typeface="Poppins"/>
              </a:rPr>
              <a:t>What students gain</a:t>
            </a:r>
            <a:endParaRPr b="0" i="0" sz="2400" u="none" cap="none" strike="noStrike">
              <a:solidFill>
                <a:schemeClr val="dk1"/>
              </a:solidFill>
              <a:latin typeface="Inter"/>
              <a:ea typeface="Inter"/>
              <a:cs typeface="Inter"/>
              <a:sym typeface="Inter"/>
            </a:endParaRPr>
          </a:p>
        </p:txBody>
      </p:sp>
      <p:sp>
        <p:nvSpPr>
          <p:cNvPr id="224" name="Google Shape;224;p11"/>
          <p:cNvSpPr/>
          <p:nvPr/>
        </p:nvSpPr>
        <p:spPr>
          <a:xfrm>
            <a:off x="457200" y="1280160"/>
            <a:ext cx="2560320" cy="1463040"/>
          </a:xfrm>
          <a:prstGeom prst="roundRect">
            <a:avLst>
              <a:gd fmla="val 7500"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a:off x="685800" y="1508760"/>
            <a:ext cx="457200" cy="45720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6" name="Google Shape;226;p11"/>
          <p:cNvPicPr preferRelativeResize="0"/>
          <p:nvPr/>
        </p:nvPicPr>
        <p:blipFill rotWithShape="1">
          <a:blip r:embed="rId3">
            <a:alphaModFix/>
          </a:blip>
          <a:srcRect b="0" l="0" r="0" t="0"/>
          <a:stretch/>
        </p:blipFill>
        <p:spPr>
          <a:xfrm>
            <a:off x="786384" y="1609344"/>
            <a:ext cx="256032" cy="256032"/>
          </a:xfrm>
          <a:prstGeom prst="rect">
            <a:avLst/>
          </a:prstGeom>
          <a:noFill/>
          <a:ln>
            <a:noFill/>
          </a:ln>
        </p:spPr>
      </p:pic>
      <p:sp>
        <p:nvSpPr>
          <p:cNvPr id="227" name="Google Shape;227;p11"/>
          <p:cNvSpPr txBox="1"/>
          <p:nvPr/>
        </p:nvSpPr>
        <p:spPr>
          <a:xfrm>
            <a:off x="1280160" y="1508760"/>
            <a:ext cx="1554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E33"/>
              </a:buClr>
              <a:buSzPts val="1300"/>
              <a:buFont typeface="Poppins"/>
              <a:buNone/>
            </a:pPr>
            <a:r>
              <a:rPr b="1" i="0" lang="en-US" sz="1300" u="none" cap="none" strike="noStrike">
                <a:solidFill>
                  <a:srgbClr val="1B1E33"/>
                </a:solidFill>
                <a:latin typeface="Poppins"/>
                <a:ea typeface="Poppins"/>
                <a:cs typeface="Poppins"/>
                <a:sym typeface="Poppins"/>
              </a:rPr>
              <a:t>Sources you can trust</a:t>
            </a:r>
            <a:endParaRPr b="0" i="0" sz="1300" u="none" cap="none" strike="noStrike">
              <a:solidFill>
                <a:schemeClr val="dk1"/>
              </a:solidFill>
              <a:latin typeface="Inter"/>
              <a:ea typeface="Inter"/>
              <a:cs typeface="Inter"/>
              <a:sym typeface="Inter"/>
            </a:endParaRPr>
          </a:p>
        </p:txBody>
      </p:sp>
      <p:sp>
        <p:nvSpPr>
          <p:cNvPr id="228" name="Google Shape;228;p11"/>
          <p:cNvSpPr txBox="1"/>
          <p:nvPr/>
        </p:nvSpPr>
        <p:spPr>
          <a:xfrm>
            <a:off x="685800" y="2057400"/>
            <a:ext cx="21031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Every source is labelled, with the reason why.</a:t>
            </a:r>
            <a:endParaRPr b="0" i="0" sz="1100" u="none" cap="none" strike="noStrike">
              <a:solidFill>
                <a:schemeClr val="dk1"/>
              </a:solidFill>
              <a:latin typeface="Inter"/>
              <a:ea typeface="Inter"/>
              <a:cs typeface="Inter"/>
              <a:sym typeface="Inter"/>
            </a:endParaRPr>
          </a:p>
        </p:txBody>
      </p:sp>
      <p:sp>
        <p:nvSpPr>
          <p:cNvPr id="229" name="Google Shape;229;p11"/>
          <p:cNvSpPr/>
          <p:nvPr/>
        </p:nvSpPr>
        <p:spPr>
          <a:xfrm>
            <a:off x="3291840" y="1280160"/>
            <a:ext cx="2560320" cy="1463040"/>
          </a:xfrm>
          <a:prstGeom prst="roundRect">
            <a:avLst>
              <a:gd fmla="val 7500"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a:off x="3520440" y="1508760"/>
            <a:ext cx="457200" cy="45720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1" name="Google Shape;231;p11"/>
          <p:cNvPicPr preferRelativeResize="0"/>
          <p:nvPr/>
        </p:nvPicPr>
        <p:blipFill rotWithShape="1">
          <a:blip r:embed="rId4">
            <a:alphaModFix/>
          </a:blip>
          <a:srcRect b="0" l="0" r="0" t="0"/>
          <a:stretch/>
        </p:blipFill>
        <p:spPr>
          <a:xfrm>
            <a:off x="3621024" y="1609344"/>
            <a:ext cx="256032" cy="256032"/>
          </a:xfrm>
          <a:prstGeom prst="rect">
            <a:avLst/>
          </a:prstGeom>
          <a:noFill/>
          <a:ln>
            <a:noFill/>
          </a:ln>
        </p:spPr>
      </p:pic>
      <p:sp>
        <p:nvSpPr>
          <p:cNvPr id="232" name="Google Shape;232;p11"/>
          <p:cNvSpPr txBox="1"/>
          <p:nvPr/>
        </p:nvSpPr>
        <p:spPr>
          <a:xfrm>
            <a:off x="4114800" y="1508760"/>
            <a:ext cx="1554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E33"/>
              </a:buClr>
              <a:buSzPts val="1300"/>
              <a:buFont typeface="Poppins"/>
              <a:buNone/>
            </a:pPr>
            <a:r>
              <a:rPr b="1" i="0" lang="en-US" sz="1300" u="none" cap="none" strike="noStrike">
                <a:solidFill>
                  <a:srgbClr val="1B1E33"/>
                </a:solidFill>
                <a:latin typeface="Poppins"/>
                <a:ea typeface="Poppins"/>
                <a:cs typeface="Poppins"/>
                <a:sym typeface="Poppins"/>
              </a:rPr>
              <a:t>Your answers shape it</a:t>
            </a:r>
            <a:endParaRPr b="0" i="0" sz="1300" u="none" cap="none" strike="noStrike">
              <a:solidFill>
                <a:schemeClr val="dk1"/>
              </a:solidFill>
              <a:latin typeface="Inter"/>
              <a:ea typeface="Inter"/>
              <a:cs typeface="Inter"/>
              <a:sym typeface="Inter"/>
            </a:endParaRPr>
          </a:p>
        </p:txBody>
      </p:sp>
      <p:sp>
        <p:nvSpPr>
          <p:cNvPr id="233" name="Google Shape;233;p11"/>
          <p:cNvSpPr txBox="1"/>
          <p:nvPr/>
        </p:nvSpPr>
        <p:spPr>
          <a:xfrm>
            <a:off x="3520440" y="2057400"/>
            <a:ext cx="21031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It follows your answers, and you can change any step.</a:t>
            </a:r>
            <a:endParaRPr b="0" i="0" sz="1100" u="none" cap="none" strike="noStrike">
              <a:solidFill>
                <a:schemeClr val="dk1"/>
              </a:solidFill>
              <a:latin typeface="Inter"/>
              <a:ea typeface="Inter"/>
              <a:cs typeface="Inter"/>
              <a:sym typeface="Inter"/>
            </a:endParaRPr>
          </a:p>
        </p:txBody>
      </p:sp>
      <p:sp>
        <p:nvSpPr>
          <p:cNvPr id="234" name="Google Shape;234;p11"/>
          <p:cNvSpPr/>
          <p:nvPr/>
        </p:nvSpPr>
        <p:spPr>
          <a:xfrm>
            <a:off x="6126480" y="1280160"/>
            <a:ext cx="2560320" cy="1463040"/>
          </a:xfrm>
          <a:prstGeom prst="roundRect">
            <a:avLst>
              <a:gd fmla="val 7500"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1"/>
          <p:cNvSpPr/>
          <p:nvPr/>
        </p:nvSpPr>
        <p:spPr>
          <a:xfrm>
            <a:off x="6355080" y="1508760"/>
            <a:ext cx="457200" cy="45720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6" name="Google Shape;236;p11"/>
          <p:cNvPicPr preferRelativeResize="0"/>
          <p:nvPr/>
        </p:nvPicPr>
        <p:blipFill rotWithShape="1">
          <a:blip r:embed="rId5">
            <a:alphaModFix/>
          </a:blip>
          <a:srcRect b="0" l="0" r="0" t="0"/>
          <a:stretch/>
        </p:blipFill>
        <p:spPr>
          <a:xfrm>
            <a:off x="6455664" y="1609344"/>
            <a:ext cx="256032" cy="256032"/>
          </a:xfrm>
          <a:prstGeom prst="rect">
            <a:avLst/>
          </a:prstGeom>
          <a:noFill/>
          <a:ln>
            <a:noFill/>
          </a:ln>
        </p:spPr>
      </p:pic>
      <p:sp>
        <p:nvSpPr>
          <p:cNvPr id="237" name="Google Shape;237;p11"/>
          <p:cNvSpPr txBox="1"/>
          <p:nvPr/>
        </p:nvSpPr>
        <p:spPr>
          <a:xfrm>
            <a:off x="6949440" y="1508760"/>
            <a:ext cx="1554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E33"/>
              </a:buClr>
              <a:buSzPts val="1300"/>
              <a:buFont typeface="Poppins"/>
              <a:buNone/>
            </a:pPr>
            <a:r>
              <a:rPr b="1" i="0" lang="en-US" sz="1300" u="none" cap="none" strike="noStrike">
                <a:solidFill>
                  <a:srgbClr val="1B1E33"/>
                </a:solidFill>
                <a:latin typeface="Poppins"/>
                <a:ea typeface="Poppins"/>
                <a:cs typeface="Poppins"/>
                <a:sym typeface="Poppins"/>
              </a:rPr>
              <a:t>Claims backed by evidence</a:t>
            </a:r>
            <a:endParaRPr b="0" i="0" sz="1300" u="none" cap="none" strike="noStrike">
              <a:solidFill>
                <a:schemeClr val="dk1"/>
              </a:solidFill>
              <a:latin typeface="Inter"/>
              <a:ea typeface="Inter"/>
              <a:cs typeface="Inter"/>
              <a:sym typeface="Inter"/>
            </a:endParaRPr>
          </a:p>
        </p:txBody>
      </p:sp>
      <p:sp>
        <p:nvSpPr>
          <p:cNvPr id="238" name="Google Shape;238;p11"/>
          <p:cNvSpPr txBox="1"/>
          <p:nvPr/>
        </p:nvSpPr>
        <p:spPr>
          <a:xfrm>
            <a:off x="6355080" y="2057400"/>
            <a:ext cx="21031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Each cited claim is checked against its source.</a:t>
            </a:r>
            <a:endParaRPr b="0" i="0" sz="1100" u="none" cap="none" strike="noStrike">
              <a:solidFill>
                <a:schemeClr val="dk1"/>
              </a:solidFill>
              <a:latin typeface="Inter"/>
              <a:ea typeface="Inter"/>
              <a:cs typeface="Inter"/>
              <a:sym typeface="Inter"/>
            </a:endParaRPr>
          </a:p>
        </p:txBody>
      </p:sp>
      <p:sp>
        <p:nvSpPr>
          <p:cNvPr id="239" name="Google Shape;239;p11"/>
          <p:cNvSpPr/>
          <p:nvPr/>
        </p:nvSpPr>
        <p:spPr>
          <a:xfrm>
            <a:off x="457200" y="2971800"/>
            <a:ext cx="2560320" cy="1463040"/>
          </a:xfrm>
          <a:prstGeom prst="roundRect">
            <a:avLst>
              <a:gd fmla="val 7500"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1"/>
          <p:cNvSpPr/>
          <p:nvPr/>
        </p:nvSpPr>
        <p:spPr>
          <a:xfrm>
            <a:off x="685800" y="3200400"/>
            <a:ext cx="457200" cy="45720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1" name="Google Shape;241;p11"/>
          <p:cNvPicPr preferRelativeResize="0"/>
          <p:nvPr/>
        </p:nvPicPr>
        <p:blipFill rotWithShape="1">
          <a:blip r:embed="rId6">
            <a:alphaModFix/>
          </a:blip>
          <a:srcRect b="0" l="0" r="0" t="0"/>
          <a:stretch/>
        </p:blipFill>
        <p:spPr>
          <a:xfrm>
            <a:off x="786384" y="3300984"/>
            <a:ext cx="256032" cy="256032"/>
          </a:xfrm>
          <a:prstGeom prst="rect">
            <a:avLst/>
          </a:prstGeom>
          <a:noFill/>
          <a:ln>
            <a:noFill/>
          </a:ln>
        </p:spPr>
      </p:pic>
      <p:sp>
        <p:nvSpPr>
          <p:cNvPr id="242" name="Google Shape;242;p11"/>
          <p:cNvSpPr txBox="1"/>
          <p:nvPr/>
        </p:nvSpPr>
        <p:spPr>
          <a:xfrm>
            <a:off x="1280160" y="3200400"/>
            <a:ext cx="1554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E33"/>
              </a:buClr>
              <a:buSzPts val="1300"/>
              <a:buFont typeface="Poppins"/>
              <a:buNone/>
            </a:pPr>
            <a:r>
              <a:rPr b="1" i="0" lang="en-US" sz="1300" u="none" cap="none" strike="noStrike">
                <a:solidFill>
                  <a:srgbClr val="1B1E33"/>
                </a:solidFill>
                <a:latin typeface="Poppins"/>
                <a:ea typeface="Poppins"/>
                <a:cs typeface="Poppins"/>
                <a:sym typeface="Poppins"/>
              </a:rPr>
              <a:t>Help that fits your level</a:t>
            </a:r>
            <a:endParaRPr b="0" i="0" sz="1300" u="none" cap="none" strike="noStrike">
              <a:solidFill>
                <a:schemeClr val="dk1"/>
              </a:solidFill>
              <a:latin typeface="Inter"/>
              <a:ea typeface="Inter"/>
              <a:cs typeface="Inter"/>
              <a:sym typeface="Inter"/>
            </a:endParaRPr>
          </a:p>
        </p:txBody>
      </p:sp>
      <p:sp>
        <p:nvSpPr>
          <p:cNvPr id="243" name="Google Shape;243;p11"/>
          <p:cNvSpPr txBox="1"/>
          <p:nvPr/>
        </p:nvSpPr>
        <p:spPr>
          <a:xfrm>
            <a:off x="685800" y="3749040"/>
            <a:ext cx="21031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Suggestions adapt from Grade 4 to university.</a:t>
            </a:r>
            <a:endParaRPr b="0" i="0" sz="1100" u="none" cap="none" strike="noStrike">
              <a:solidFill>
                <a:schemeClr val="dk1"/>
              </a:solidFill>
              <a:latin typeface="Inter"/>
              <a:ea typeface="Inter"/>
              <a:cs typeface="Inter"/>
              <a:sym typeface="Inter"/>
            </a:endParaRPr>
          </a:p>
        </p:txBody>
      </p:sp>
      <p:sp>
        <p:nvSpPr>
          <p:cNvPr id="244" name="Google Shape;244;p11"/>
          <p:cNvSpPr/>
          <p:nvPr/>
        </p:nvSpPr>
        <p:spPr>
          <a:xfrm>
            <a:off x="3291840" y="2971800"/>
            <a:ext cx="2560320" cy="1463040"/>
          </a:xfrm>
          <a:prstGeom prst="roundRect">
            <a:avLst>
              <a:gd fmla="val 7500"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a:off x="3520440" y="3200400"/>
            <a:ext cx="457200" cy="45720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6" name="Google Shape;246;p11"/>
          <p:cNvPicPr preferRelativeResize="0"/>
          <p:nvPr/>
        </p:nvPicPr>
        <p:blipFill rotWithShape="1">
          <a:blip r:embed="rId7">
            <a:alphaModFix/>
          </a:blip>
          <a:srcRect b="0" l="0" r="0" t="0"/>
          <a:stretch/>
        </p:blipFill>
        <p:spPr>
          <a:xfrm>
            <a:off x="3621024" y="3300984"/>
            <a:ext cx="256032" cy="256032"/>
          </a:xfrm>
          <a:prstGeom prst="rect">
            <a:avLst/>
          </a:prstGeom>
          <a:noFill/>
          <a:ln>
            <a:noFill/>
          </a:ln>
        </p:spPr>
      </p:pic>
      <p:sp>
        <p:nvSpPr>
          <p:cNvPr id="247" name="Google Shape;247;p11"/>
          <p:cNvSpPr txBox="1"/>
          <p:nvPr/>
        </p:nvSpPr>
        <p:spPr>
          <a:xfrm>
            <a:off x="4114800" y="3200400"/>
            <a:ext cx="1554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E33"/>
              </a:buClr>
              <a:buSzPts val="1300"/>
              <a:buFont typeface="Poppins"/>
              <a:buNone/>
            </a:pPr>
            <a:r>
              <a:rPr b="1" i="0" lang="en-US" sz="1300" u="none" cap="none" strike="noStrike">
                <a:solidFill>
                  <a:srgbClr val="1B1E33"/>
                </a:solidFill>
                <a:latin typeface="Poppins"/>
                <a:ea typeface="Poppins"/>
                <a:cs typeface="Poppins"/>
                <a:sym typeface="Poppins"/>
              </a:rPr>
              <a:t>Accessible by design</a:t>
            </a:r>
            <a:endParaRPr b="0" i="0" sz="1300" u="none" cap="none" strike="noStrike">
              <a:solidFill>
                <a:schemeClr val="dk1"/>
              </a:solidFill>
              <a:latin typeface="Inter"/>
              <a:ea typeface="Inter"/>
              <a:cs typeface="Inter"/>
              <a:sym typeface="Inter"/>
            </a:endParaRPr>
          </a:p>
        </p:txBody>
      </p:sp>
      <p:sp>
        <p:nvSpPr>
          <p:cNvPr id="248" name="Google Shape;248;p11"/>
          <p:cNvSpPr txBox="1"/>
          <p:nvPr/>
        </p:nvSpPr>
        <p:spPr>
          <a:xfrm>
            <a:off x="3520440" y="3749040"/>
            <a:ext cx="21031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Read aloud, voice typing, larger text and high contrast.</a:t>
            </a:r>
            <a:endParaRPr b="0" i="0" sz="1100" u="none" cap="none" strike="noStrike">
              <a:solidFill>
                <a:schemeClr val="dk1"/>
              </a:solidFill>
              <a:latin typeface="Inter"/>
              <a:ea typeface="Inter"/>
              <a:cs typeface="Inter"/>
              <a:sym typeface="Inter"/>
            </a:endParaRPr>
          </a:p>
        </p:txBody>
      </p:sp>
      <p:sp>
        <p:nvSpPr>
          <p:cNvPr id="249" name="Google Shape;249;p11"/>
          <p:cNvSpPr/>
          <p:nvPr/>
        </p:nvSpPr>
        <p:spPr>
          <a:xfrm>
            <a:off x="6126480" y="2971800"/>
            <a:ext cx="2560320" cy="1463040"/>
          </a:xfrm>
          <a:prstGeom prst="roundRect">
            <a:avLst>
              <a:gd fmla="val 7500"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1"/>
          <p:cNvSpPr/>
          <p:nvPr/>
        </p:nvSpPr>
        <p:spPr>
          <a:xfrm>
            <a:off x="6355080" y="3200400"/>
            <a:ext cx="457200" cy="45720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1" name="Google Shape;251;p11"/>
          <p:cNvPicPr preferRelativeResize="0"/>
          <p:nvPr/>
        </p:nvPicPr>
        <p:blipFill rotWithShape="1">
          <a:blip r:embed="rId8">
            <a:alphaModFix/>
          </a:blip>
          <a:srcRect b="0" l="0" r="0" t="0"/>
          <a:stretch/>
        </p:blipFill>
        <p:spPr>
          <a:xfrm>
            <a:off x="6455664" y="3300984"/>
            <a:ext cx="256032" cy="256032"/>
          </a:xfrm>
          <a:prstGeom prst="rect">
            <a:avLst/>
          </a:prstGeom>
          <a:noFill/>
          <a:ln>
            <a:noFill/>
          </a:ln>
        </p:spPr>
      </p:pic>
      <p:sp>
        <p:nvSpPr>
          <p:cNvPr id="252" name="Google Shape;252;p11"/>
          <p:cNvSpPr txBox="1"/>
          <p:nvPr/>
        </p:nvSpPr>
        <p:spPr>
          <a:xfrm>
            <a:off x="6949440" y="3200400"/>
            <a:ext cx="1554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E33"/>
              </a:buClr>
              <a:buSzPts val="1300"/>
              <a:buFont typeface="Poppins"/>
              <a:buNone/>
            </a:pPr>
            <a:r>
              <a:rPr b="1" i="0" lang="en-US" sz="1300" u="none" cap="none" strike="noStrike">
                <a:solidFill>
                  <a:srgbClr val="1B1E33"/>
                </a:solidFill>
                <a:latin typeface="Poppins"/>
                <a:ea typeface="Poppins"/>
                <a:cs typeface="Poppins"/>
                <a:sym typeface="Poppins"/>
              </a:rPr>
              <a:t>English and Hindi</a:t>
            </a:r>
            <a:endParaRPr b="0" i="0" sz="1300" u="none" cap="none" strike="noStrike">
              <a:solidFill>
                <a:schemeClr val="dk1"/>
              </a:solidFill>
              <a:latin typeface="Inter"/>
              <a:ea typeface="Inter"/>
              <a:cs typeface="Inter"/>
              <a:sym typeface="Inter"/>
            </a:endParaRPr>
          </a:p>
        </p:txBody>
      </p:sp>
      <p:sp>
        <p:nvSpPr>
          <p:cNvPr id="253" name="Google Shape;253;p11"/>
          <p:cNvSpPr txBox="1"/>
          <p:nvPr/>
        </p:nvSpPr>
        <p:spPr>
          <a:xfrm>
            <a:off x="6355080" y="3749040"/>
            <a:ext cx="21031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Use the whole app in the language you think in.</a:t>
            </a:r>
            <a:endParaRPr b="0" i="0" sz="1100" u="none" cap="none" strike="noStrike">
              <a:solidFill>
                <a:schemeClr val="dk1"/>
              </a:solidFill>
              <a:latin typeface="Inter"/>
              <a:ea typeface="Inter"/>
              <a:cs typeface="Inter"/>
              <a:sym typeface="Inter"/>
            </a:endParaRPr>
          </a:p>
        </p:txBody>
      </p:sp>
      <p:sp>
        <p:nvSpPr>
          <p:cNvPr id="254" name="Google Shape;254;p11"/>
          <p:cNvSpPr txBox="1"/>
          <p:nvPr>
            <p:ph idx="4294967295" type="sldNum"/>
          </p:nvPr>
        </p:nvSpPr>
        <p:spPr>
          <a:xfrm>
            <a:off x="822960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FA8"/>
                </a:solidFill>
                <a:latin typeface="Inter"/>
                <a:ea typeface="Inter"/>
                <a:cs typeface="Inter"/>
                <a:sym typeface="Inter"/>
              </a:rPr>
              <a:t>‹#›</a:t>
            </a:fld>
            <a:endParaRPr b="0" i="0" sz="900" u="none" cap="none" strike="noStrike">
              <a:solidFill>
                <a:srgbClr val="8A8FA8"/>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2"/>
          <p:cNvSpPr txBox="1"/>
          <p:nvPr/>
        </p:nvSpPr>
        <p:spPr>
          <a:xfrm>
            <a:off x="457200" y="292608"/>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1000"/>
              <a:buFont typeface="Inter"/>
              <a:buNone/>
            </a:pPr>
            <a:r>
              <a:rPr b="1" i="0" lang="en-US" sz="1000" u="none" cap="none" strike="noStrike">
                <a:solidFill>
                  <a:srgbClr val="4F46E5"/>
                </a:solidFill>
                <a:latin typeface="Inter"/>
                <a:ea typeface="Inter"/>
                <a:cs typeface="Inter"/>
                <a:sym typeface="Inter"/>
              </a:rPr>
              <a:t>7 · SOCIETAL IMPACT</a:t>
            </a:r>
            <a:endParaRPr b="0" i="0" sz="1000" u="none" cap="none" strike="noStrike">
              <a:solidFill>
                <a:schemeClr val="dk1"/>
              </a:solidFill>
              <a:latin typeface="Inter"/>
              <a:ea typeface="Inter"/>
              <a:cs typeface="Inter"/>
              <a:sym typeface="Inter"/>
            </a:endParaRPr>
          </a:p>
        </p:txBody>
      </p:sp>
      <p:sp>
        <p:nvSpPr>
          <p:cNvPr id="261" name="Google Shape;261;p12"/>
          <p:cNvSpPr txBox="1"/>
          <p:nvPr/>
        </p:nvSpPr>
        <p:spPr>
          <a:xfrm>
            <a:off x="457200" y="530352"/>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2400"/>
              <a:buFont typeface="Poppins"/>
              <a:buNone/>
            </a:pPr>
            <a:r>
              <a:rPr b="1" i="0" lang="en-US" sz="2400" u="none" cap="none" strike="noStrike">
                <a:solidFill>
                  <a:srgbClr val="1B1E33"/>
                </a:solidFill>
                <a:latin typeface="Poppins"/>
                <a:ea typeface="Poppins"/>
                <a:cs typeface="Poppins"/>
                <a:sym typeface="Poppins"/>
              </a:rPr>
              <a:t>Helping every student research well</a:t>
            </a:r>
            <a:endParaRPr b="0" i="0" sz="2400" u="none" cap="none" strike="noStrike">
              <a:solidFill>
                <a:schemeClr val="dk1"/>
              </a:solidFill>
              <a:latin typeface="Inter"/>
              <a:ea typeface="Inter"/>
              <a:cs typeface="Inter"/>
              <a:sym typeface="Inter"/>
            </a:endParaRPr>
          </a:p>
        </p:txBody>
      </p:sp>
      <p:sp>
        <p:nvSpPr>
          <p:cNvPr id="262" name="Google Shape;262;p12"/>
          <p:cNvSpPr/>
          <p:nvPr/>
        </p:nvSpPr>
        <p:spPr>
          <a:xfrm>
            <a:off x="457200" y="1325880"/>
            <a:ext cx="3291840" cy="3108960"/>
          </a:xfrm>
          <a:prstGeom prst="roundRect">
            <a:avLst>
              <a:gd fmla="val 3529" name="adj"/>
            </a:avLst>
          </a:prstGeom>
          <a:solidFill>
            <a:srgbClr val="14172A"/>
          </a:solidFill>
          <a:ln cap="flat" cmpd="sng" w="9525">
            <a:solidFill>
              <a:srgbClr val="1417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2"/>
          <p:cNvSpPr txBox="1"/>
          <p:nvPr/>
        </p:nvSpPr>
        <p:spPr>
          <a:xfrm>
            <a:off x="731520" y="1600200"/>
            <a:ext cx="2743200" cy="2560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800"/>
              <a:buFont typeface="Poppins"/>
              <a:buNone/>
            </a:pPr>
            <a:r>
              <a:rPr b="1" i="0" lang="en-US" sz="1800" u="none" cap="none" strike="noStrike">
                <a:solidFill>
                  <a:srgbClr val="FFFFFF"/>
                </a:solidFill>
                <a:latin typeface="Poppins"/>
                <a:ea typeface="Poppins"/>
                <a:cs typeface="Poppins"/>
                <a:sym typeface="Poppins"/>
              </a:rPr>
              <a:t>A research partner for anyone with a browser</a:t>
            </a:r>
            <a:endParaRPr b="0" i="0" sz="1800" u="none" cap="none" strike="noStrike">
              <a:solidFill>
                <a:schemeClr val="dk1"/>
              </a:solidFill>
              <a:latin typeface="Inter"/>
              <a:ea typeface="Inter"/>
              <a:cs typeface="Inter"/>
              <a:sym typeface="Inter"/>
            </a:endParaRPr>
          </a:p>
          <a:p>
            <a:pPr indent="0" lvl="0" marL="0" marR="0" rtl="0" algn="l">
              <a:spcBef>
                <a:spcPts val="1000"/>
              </a:spcBef>
              <a:spcAft>
                <a:spcPts val="0"/>
              </a:spcAft>
              <a:buClr>
                <a:srgbClr val="C9CDE6"/>
              </a:buClr>
              <a:buSzPts val="1200"/>
              <a:buFont typeface="Inter"/>
              <a:buNone/>
            </a:pPr>
            <a:r>
              <a:rPr b="0" i="0" lang="en-US" sz="1200" u="none" cap="none" strike="noStrike">
                <a:solidFill>
                  <a:srgbClr val="C9CDE6"/>
                </a:solidFill>
                <a:latin typeface="Inter"/>
                <a:ea typeface="Inter"/>
                <a:cs typeface="Inter"/>
                <a:sym typeface="Inter"/>
              </a:rPr>
              <a:t>Not only for students who already have a mentor, a library or a researcher in the family.</a:t>
            </a:r>
            <a:endParaRPr b="0" i="0" sz="1800" u="none" cap="none" strike="noStrike">
              <a:solidFill>
                <a:schemeClr val="dk1"/>
              </a:solidFill>
              <a:latin typeface="Inter"/>
              <a:ea typeface="Inter"/>
              <a:cs typeface="Inter"/>
              <a:sym typeface="Inter"/>
            </a:endParaRPr>
          </a:p>
        </p:txBody>
      </p:sp>
      <p:sp>
        <p:nvSpPr>
          <p:cNvPr id="264" name="Google Shape;264;p12"/>
          <p:cNvSpPr/>
          <p:nvPr/>
        </p:nvSpPr>
        <p:spPr>
          <a:xfrm>
            <a:off x="4114800" y="1371600"/>
            <a:ext cx="502920" cy="50292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5" name="Google Shape;265;p12"/>
          <p:cNvPicPr preferRelativeResize="0"/>
          <p:nvPr/>
        </p:nvPicPr>
        <p:blipFill rotWithShape="1">
          <a:blip r:embed="rId3">
            <a:alphaModFix/>
          </a:blip>
          <a:srcRect b="0" l="0" r="0" t="0"/>
          <a:stretch/>
        </p:blipFill>
        <p:spPr>
          <a:xfrm>
            <a:off x="4225442" y="1482242"/>
            <a:ext cx="281635" cy="281635"/>
          </a:xfrm>
          <a:prstGeom prst="rect">
            <a:avLst/>
          </a:prstGeom>
          <a:noFill/>
          <a:ln>
            <a:noFill/>
          </a:ln>
        </p:spPr>
      </p:pic>
      <p:sp>
        <p:nvSpPr>
          <p:cNvPr id="266" name="Google Shape;266;p12"/>
          <p:cNvSpPr txBox="1"/>
          <p:nvPr/>
        </p:nvSpPr>
        <p:spPr>
          <a:xfrm>
            <a:off x="4800600" y="1325880"/>
            <a:ext cx="38862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400"/>
              <a:buFont typeface="Poppins"/>
              <a:buNone/>
            </a:pPr>
            <a:r>
              <a:rPr b="1" i="0" lang="en-US" sz="1400" u="none" cap="none" strike="noStrike">
                <a:solidFill>
                  <a:srgbClr val="1B1E33"/>
                </a:solidFill>
                <a:latin typeface="Poppins"/>
                <a:ea typeface="Poppins"/>
                <a:cs typeface="Poppins"/>
                <a:sym typeface="Poppins"/>
              </a:rPr>
              <a:t>Equal access</a:t>
            </a:r>
            <a:endParaRPr b="0" i="0" sz="1400" u="none" cap="none" strike="noStrike">
              <a:solidFill>
                <a:schemeClr val="dk1"/>
              </a:solidFill>
              <a:latin typeface="Inter"/>
              <a:ea typeface="Inter"/>
              <a:cs typeface="Inter"/>
              <a:sym typeface="Inter"/>
            </a:endParaRPr>
          </a:p>
          <a:p>
            <a:pPr indent="0" lvl="0" marL="0" marR="0" rtl="0" algn="l">
              <a:spcBef>
                <a:spcPts val="20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Quality research guidance in English and Hindi, with accessibility built in.</a:t>
            </a:r>
            <a:endParaRPr b="0" i="0" sz="1400" u="none" cap="none" strike="noStrike">
              <a:solidFill>
                <a:schemeClr val="dk1"/>
              </a:solidFill>
              <a:latin typeface="Inter"/>
              <a:ea typeface="Inter"/>
              <a:cs typeface="Inter"/>
              <a:sym typeface="Inter"/>
            </a:endParaRPr>
          </a:p>
        </p:txBody>
      </p:sp>
      <p:sp>
        <p:nvSpPr>
          <p:cNvPr id="267" name="Google Shape;267;p12"/>
          <p:cNvSpPr/>
          <p:nvPr/>
        </p:nvSpPr>
        <p:spPr>
          <a:xfrm>
            <a:off x="4114800" y="2441448"/>
            <a:ext cx="502920" cy="50292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8" name="Google Shape;268;p12"/>
          <p:cNvPicPr preferRelativeResize="0"/>
          <p:nvPr/>
        </p:nvPicPr>
        <p:blipFill rotWithShape="1">
          <a:blip r:embed="rId4">
            <a:alphaModFix/>
          </a:blip>
          <a:srcRect b="0" l="0" r="0" t="0"/>
          <a:stretch/>
        </p:blipFill>
        <p:spPr>
          <a:xfrm>
            <a:off x="4225442" y="2552090"/>
            <a:ext cx="281635" cy="281635"/>
          </a:xfrm>
          <a:prstGeom prst="rect">
            <a:avLst/>
          </a:prstGeom>
          <a:noFill/>
          <a:ln>
            <a:noFill/>
          </a:ln>
        </p:spPr>
      </p:pic>
      <p:sp>
        <p:nvSpPr>
          <p:cNvPr id="269" name="Google Shape;269;p12"/>
          <p:cNvSpPr txBox="1"/>
          <p:nvPr/>
        </p:nvSpPr>
        <p:spPr>
          <a:xfrm>
            <a:off x="4800600" y="2395728"/>
            <a:ext cx="38862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400"/>
              <a:buFont typeface="Poppins"/>
              <a:buNone/>
            </a:pPr>
            <a:r>
              <a:rPr b="1" i="0" lang="en-US" sz="1400" u="none" cap="none" strike="noStrike">
                <a:solidFill>
                  <a:srgbClr val="1B1E33"/>
                </a:solidFill>
                <a:latin typeface="Poppins"/>
                <a:ea typeface="Poppins"/>
                <a:cs typeface="Poppins"/>
                <a:sym typeface="Poppins"/>
              </a:rPr>
              <a:t>Smarter about information</a:t>
            </a:r>
            <a:endParaRPr b="0" i="0" sz="1400" u="none" cap="none" strike="noStrike">
              <a:solidFill>
                <a:schemeClr val="dk1"/>
              </a:solidFill>
              <a:latin typeface="Inter"/>
              <a:ea typeface="Inter"/>
              <a:cs typeface="Inter"/>
              <a:sym typeface="Inter"/>
            </a:endParaRPr>
          </a:p>
          <a:p>
            <a:pPr indent="0" lvl="0" marL="0" marR="0" rtl="0" algn="l">
              <a:spcBef>
                <a:spcPts val="20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Students learn to spot trustworthy sources and question what they read online.</a:t>
            </a:r>
            <a:endParaRPr b="0" i="0" sz="1400" u="none" cap="none" strike="noStrike">
              <a:solidFill>
                <a:schemeClr val="dk1"/>
              </a:solidFill>
              <a:latin typeface="Inter"/>
              <a:ea typeface="Inter"/>
              <a:cs typeface="Inter"/>
              <a:sym typeface="Inter"/>
            </a:endParaRPr>
          </a:p>
        </p:txBody>
      </p:sp>
      <p:sp>
        <p:nvSpPr>
          <p:cNvPr id="270" name="Google Shape;270;p12"/>
          <p:cNvSpPr/>
          <p:nvPr/>
        </p:nvSpPr>
        <p:spPr>
          <a:xfrm>
            <a:off x="4114800" y="3511296"/>
            <a:ext cx="502920" cy="50292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1" name="Google Shape;271;p12"/>
          <p:cNvPicPr preferRelativeResize="0"/>
          <p:nvPr/>
        </p:nvPicPr>
        <p:blipFill rotWithShape="1">
          <a:blip r:embed="rId5">
            <a:alphaModFix/>
          </a:blip>
          <a:srcRect b="0" l="0" r="0" t="0"/>
          <a:stretch/>
        </p:blipFill>
        <p:spPr>
          <a:xfrm>
            <a:off x="4225442" y="3621938"/>
            <a:ext cx="281635" cy="281635"/>
          </a:xfrm>
          <a:prstGeom prst="rect">
            <a:avLst/>
          </a:prstGeom>
          <a:noFill/>
          <a:ln>
            <a:noFill/>
          </a:ln>
        </p:spPr>
      </p:pic>
      <p:sp>
        <p:nvSpPr>
          <p:cNvPr id="272" name="Google Shape;272;p12"/>
          <p:cNvSpPr txBox="1"/>
          <p:nvPr/>
        </p:nvSpPr>
        <p:spPr>
          <a:xfrm>
            <a:off x="4800600" y="3465576"/>
            <a:ext cx="38862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400"/>
              <a:buFont typeface="Poppins"/>
              <a:buNone/>
            </a:pPr>
            <a:r>
              <a:rPr b="1" i="0" lang="en-US" sz="1400" u="none" cap="none" strike="noStrike">
                <a:solidFill>
                  <a:srgbClr val="1B1E33"/>
                </a:solidFill>
                <a:latin typeface="Poppins"/>
                <a:ea typeface="Poppins"/>
                <a:cs typeface="Poppins"/>
                <a:sym typeface="Poppins"/>
              </a:rPr>
              <a:t>Transparent work</a:t>
            </a:r>
            <a:endParaRPr b="0" i="0" sz="1400" u="none" cap="none" strike="noStrike">
              <a:solidFill>
                <a:schemeClr val="dk1"/>
              </a:solidFill>
              <a:latin typeface="Inter"/>
              <a:ea typeface="Inter"/>
              <a:cs typeface="Inter"/>
              <a:sym typeface="Inter"/>
            </a:endParaRPr>
          </a:p>
          <a:p>
            <a:pPr indent="0" lvl="0" marL="0" marR="0" rtl="0" algn="l">
              <a:spcBef>
                <a:spcPts val="20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Every fact is cited and checked against its source, so students see where it came from.</a:t>
            </a:r>
            <a:endParaRPr b="0" i="0" sz="1400" u="none" cap="none" strike="noStrike">
              <a:solidFill>
                <a:schemeClr val="dk1"/>
              </a:solidFill>
              <a:latin typeface="Inter"/>
              <a:ea typeface="Inter"/>
              <a:cs typeface="Inter"/>
              <a:sym typeface="Inter"/>
            </a:endParaRPr>
          </a:p>
        </p:txBody>
      </p:sp>
      <p:sp>
        <p:nvSpPr>
          <p:cNvPr id="273" name="Google Shape;273;p12"/>
          <p:cNvSpPr txBox="1"/>
          <p:nvPr>
            <p:ph idx="4294967295" type="sldNum"/>
          </p:nvPr>
        </p:nvSpPr>
        <p:spPr>
          <a:xfrm>
            <a:off x="822960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FA8"/>
                </a:solidFill>
                <a:latin typeface="Inter"/>
                <a:ea typeface="Inter"/>
                <a:cs typeface="Inter"/>
                <a:sym typeface="Inter"/>
              </a:rPr>
              <a:t>‹#›</a:t>
            </a:fld>
            <a:endParaRPr b="0" i="0" sz="900" u="none" cap="none" strike="noStrike">
              <a:solidFill>
                <a:srgbClr val="8A8FA8"/>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3"/>
          <p:cNvSpPr txBox="1"/>
          <p:nvPr/>
        </p:nvSpPr>
        <p:spPr>
          <a:xfrm>
            <a:off x="457200" y="292608"/>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1000"/>
              <a:buFont typeface="Inter"/>
              <a:buNone/>
            </a:pPr>
            <a:r>
              <a:rPr b="1" i="0" lang="en-US" sz="1000" u="none" cap="none" strike="noStrike">
                <a:solidFill>
                  <a:srgbClr val="4F46E5"/>
                </a:solidFill>
                <a:latin typeface="Inter"/>
                <a:ea typeface="Inter"/>
                <a:cs typeface="Inter"/>
                <a:sym typeface="Inter"/>
              </a:rPr>
              <a:t>8 · HOW WE BUILT IT</a:t>
            </a:r>
            <a:endParaRPr b="0" i="0" sz="1000" u="none" cap="none" strike="noStrike">
              <a:solidFill>
                <a:schemeClr val="dk1"/>
              </a:solidFill>
              <a:latin typeface="Inter"/>
              <a:ea typeface="Inter"/>
              <a:cs typeface="Inter"/>
              <a:sym typeface="Inter"/>
            </a:endParaRPr>
          </a:p>
        </p:txBody>
      </p:sp>
      <p:sp>
        <p:nvSpPr>
          <p:cNvPr id="280" name="Google Shape;280;p13"/>
          <p:cNvSpPr txBox="1"/>
          <p:nvPr/>
        </p:nvSpPr>
        <p:spPr>
          <a:xfrm>
            <a:off x="457200" y="530352"/>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2400"/>
              <a:buFont typeface="Poppins"/>
              <a:buNone/>
            </a:pPr>
            <a:r>
              <a:rPr b="1" i="0" lang="en-US" sz="2400" u="none" cap="none" strike="noStrike">
                <a:solidFill>
                  <a:srgbClr val="1B1E33"/>
                </a:solidFill>
                <a:latin typeface="Poppins"/>
                <a:ea typeface="Poppins"/>
                <a:cs typeface="Poppins"/>
                <a:sym typeface="Poppins"/>
              </a:rPr>
              <a:t>A modern web stack with AI at the core</a:t>
            </a:r>
            <a:endParaRPr b="0" i="0" sz="2400" u="none" cap="none" strike="noStrike">
              <a:solidFill>
                <a:schemeClr val="dk1"/>
              </a:solidFill>
              <a:latin typeface="Inter"/>
              <a:ea typeface="Inter"/>
              <a:cs typeface="Inter"/>
              <a:sym typeface="Inter"/>
            </a:endParaRPr>
          </a:p>
        </p:txBody>
      </p:sp>
      <p:sp>
        <p:nvSpPr>
          <p:cNvPr id="281" name="Google Shape;281;p13"/>
          <p:cNvSpPr/>
          <p:nvPr/>
        </p:nvSpPr>
        <p:spPr>
          <a:xfrm>
            <a:off x="457200" y="1280160"/>
            <a:ext cx="1920240" cy="1874520"/>
          </a:xfrm>
          <a:prstGeom prst="roundRect">
            <a:avLst>
              <a:gd fmla="val 5854"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3"/>
          <p:cNvSpPr/>
          <p:nvPr/>
        </p:nvSpPr>
        <p:spPr>
          <a:xfrm>
            <a:off x="640080" y="1463040"/>
            <a:ext cx="457200" cy="45720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3" name="Google Shape;283;p13"/>
          <p:cNvPicPr preferRelativeResize="0"/>
          <p:nvPr/>
        </p:nvPicPr>
        <p:blipFill rotWithShape="1">
          <a:blip r:embed="rId3">
            <a:alphaModFix/>
          </a:blip>
          <a:srcRect b="0" l="0" r="0" t="0"/>
          <a:stretch/>
        </p:blipFill>
        <p:spPr>
          <a:xfrm>
            <a:off x="740664" y="1563624"/>
            <a:ext cx="256032" cy="256032"/>
          </a:xfrm>
          <a:prstGeom prst="rect">
            <a:avLst/>
          </a:prstGeom>
          <a:noFill/>
          <a:ln>
            <a:noFill/>
          </a:ln>
        </p:spPr>
      </p:pic>
      <p:sp>
        <p:nvSpPr>
          <p:cNvPr id="284" name="Google Shape;284;p13"/>
          <p:cNvSpPr txBox="1"/>
          <p:nvPr/>
        </p:nvSpPr>
        <p:spPr>
          <a:xfrm>
            <a:off x="640080" y="1993392"/>
            <a:ext cx="155448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300"/>
              <a:buFont typeface="Poppins"/>
              <a:buNone/>
            </a:pPr>
            <a:r>
              <a:rPr b="1" i="0" lang="en-US" sz="1300" u="none" cap="none" strike="noStrike">
                <a:solidFill>
                  <a:srgbClr val="1B1E33"/>
                </a:solidFill>
                <a:latin typeface="Poppins"/>
                <a:ea typeface="Poppins"/>
                <a:cs typeface="Poppins"/>
                <a:sym typeface="Poppins"/>
              </a:rPr>
              <a:t>Front end</a:t>
            </a:r>
            <a:endParaRPr b="0" i="0" sz="1300" u="none" cap="none" strike="noStrike">
              <a:solidFill>
                <a:schemeClr val="dk1"/>
              </a:solidFill>
              <a:latin typeface="Inter"/>
              <a:ea typeface="Inter"/>
              <a:cs typeface="Inter"/>
              <a:sym typeface="Inter"/>
            </a:endParaRPr>
          </a:p>
          <a:p>
            <a:pPr indent="0" lvl="0" marL="0" marR="0" rtl="0" algn="l">
              <a:spcBef>
                <a:spcPts val="400"/>
              </a:spcBef>
              <a:spcAft>
                <a:spcPts val="0"/>
              </a:spcAft>
              <a:buClr>
                <a:srgbClr val="5B6078"/>
              </a:buClr>
              <a:buSzPts val="1000"/>
              <a:buFont typeface="Inter"/>
              <a:buNone/>
            </a:pPr>
            <a:r>
              <a:rPr b="0" i="0" lang="en-US" sz="1000" u="none" cap="none" strike="noStrike">
                <a:solidFill>
                  <a:srgbClr val="5B6078"/>
                </a:solidFill>
                <a:latin typeface="Inter"/>
                <a:ea typeface="Inter"/>
                <a:cs typeface="Inter"/>
                <a:sym typeface="Inter"/>
              </a:rPr>
              <a:t>Next.js 16, React 19 and Tailwind CSS</a:t>
            </a:r>
            <a:endParaRPr b="0" i="0" sz="1300" u="none" cap="none" strike="noStrike">
              <a:solidFill>
                <a:schemeClr val="dk1"/>
              </a:solidFill>
              <a:latin typeface="Inter"/>
              <a:ea typeface="Inter"/>
              <a:cs typeface="Inter"/>
              <a:sym typeface="Inter"/>
            </a:endParaRPr>
          </a:p>
        </p:txBody>
      </p:sp>
      <p:sp>
        <p:nvSpPr>
          <p:cNvPr id="285" name="Google Shape;285;p13"/>
          <p:cNvSpPr/>
          <p:nvPr/>
        </p:nvSpPr>
        <p:spPr>
          <a:xfrm>
            <a:off x="2560320" y="1280160"/>
            <a:ext cx="1920240" cy="1874520"/>
          </a:xfrm>
          <a:prstGeom prst="roundRect">
            <a:avLst>
              <a:gd fmla="val 5854"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3"/>
          <p:cNvSpPr/>
          <p:nvPr/>
        </p:nvSpPr>
        <p:spPr>
          <a:xfrm>
            <a:off x="2743200" y="1463040"/>
            <a:ext cx="457200" cy="45720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7" name="Google Shape;287;p13"/>
          <p:cNvPicPr preferRelativeResize="0"/>
          <p:nvPr/>
        </p:nvPicPr>
        <p:blipFill rotWithShape="1">
          <a:blip r:embed="rId4">
            <a:alphaModFix/>
          </a:blip>
          <a:srcRect b="0" l="0" r="0" t="0"/>
          <a:stretch/>
        </p:blipFill>
        <p:spPr>
          <a:xfrm>
            <a:off x="2843784" y="1563624"/>
            <a:ext cx="256032" cy="256032"/>
          </a:xfrm>
          <a:prstGeom prst="rect">
            <a:avLst/>
          </a:prstGeom>
          <a:noFill/>
          <a:ln>
            <a:noFill/>
          </a:ln>
        </p:spPr>
      </p:pic>
      <p:sp>
        <p:nvSpPr>
          <p:cNvPr id="288" name="Google Shape;288;p13"/>
          <p:cNvSpPr txBox="1"/>
          <p:nvPr/>
        </p:nvSpPr>
        <p:spPr>
          <a:xfrm>
            <a:off x="2743200" y="1993392"/>
            <a:ext cx="155448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300"/>
              <a:buFont typeface="Poppins"/>
              <a:buNone/>
            </a:pPr>
            <a:r>
              <a:rPr b="1" i="0" lang="en-US" sz="1300" u="none" cap="none" strike="noStrike">
                <a:solidFill>
                  <a:srgbClr val="1B1E33"/>
                </a:solidFill>
                <a:latin typeface="Poppins"/>
                <a:ea typeface="Poppins"/>
                <a:cs typeface="Poppins"/>
                <a:sym typeface="Poppins"/>
              </a:rPr>
              <a:t>AI</a:t>
            </a:r>
            <a:endParaRPr b="0" i="0" sz="1300" u="none" cap="none" strike="noStrike">
              <a:solidFill>
                <a:schemeClr val="dk1"/>
              </a:solidFill>
              <a:latin typeface="Inter"/>
              <a:ea typeface="Inter"/>
              <a:cs typeface="Inter"/>
              <a:sym typeface="Inter"/>
            </a:endParaRPr>
          </a:p>
          <a:p>
            <a:pPr indent="0" lvl="0" marL="0" marR="0" rtl="0" algn="l">
              <a:spcBef>
                <a:spcPts val="400"/>
              </a:spcBef>
              <a:spcAft>
                <a:spcPts val="0"/>
              </a:spcAft>
              <a:buClr>
                <a:srgbClr val="5B6078"/>
              </a:buClr>
              <a:buSzPts val="1000"/>
              <a:buFont typeface="Inter"/>
              <a:buNone/>
            </a:pPr>
            <a:r>
              <a:rPr b="0" i="0" lang="en-US" sz="1000" u="none" cap="none" strike="noStrike">
                <a:solidFill>
                  <a:srgbClr val="5B6078"/>
                </a:solidFill>
                <a:latin typeface="Inter"/>
                <a:ea typeface="Inter"/>
                <a:cs typeface="Inter"/>
                <a:sym typeface="Inter"/>
              </a:rPr>
              <a:t>Claude through Vercel AI Gateway, with web search and Zod-checked answers</a:t>
            </a:r>
            <a:endParaRPr b="0" i="0" sz="1300" u="none" cap="none" strike="noStrike">
              <a:solidFill>
                <a:schemeClr val="dk1"/>
              </a:solidFill>
              <a:latin typeface="Inter"/>
              <a:ea typeface="Inter"/>
              <a:cs typeface="Inter"/>
              <a:sym typeface="Inter"/>
            </a:endParaRPr>
          </a:p>
        </p:txBody>
      </p:sp>
      <p:sp>
        <p:nvSpPr>
          <p:cNvPr id="289" name="Google Shape;289;p13"/>
          <p:cNvSpPr/>
          <p:nvPr/>
        </p:nvSpPr>
        <p:spPr>
          <a:xfrm>
            <a:off x="4663440" y="1280160"/>
            <a:ext cx="1920240" cy="1874520"/>
          </a:xfrm>
          <a:prstGeom prst="roundRect">
            <a:avLst>
              <a:gd fmla="val 5854"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3"/>
          <p:cNvSpPr/>
          <p:nvPr/>
        </p:nvSpPr>
        <p:spPr>
          <a:xfrm>
            <a:off x="4846320" y="1463040"/>
            <a:ext cx="457200" cy="45720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1" name="Google Shape;291;p13"/>
          <p:cNvPicPr preferRelativeResize="0"/>
          <p:nvPr/>
        </p:nvPicPr>
        <p:blipFill rotWithShape="1">
          <a:blip r:embed="rId5">
            <a:alphaModFix/>
          </a:blip>
          <a:srcRect b="0" l="0" r="0" t="0"/>
          <a:stretch/>
        </p:blipFill>
        <p:spPr>
          <a:xfrm>
            <a:off x="4946904" y="1563624"/>
            <a:ext cx="256032" cy="256032"/>
          </a:xfrm>
          <a:prstGeom prst="rect">
            <a:avLst/>
          </a:prstGeom>
          <a:noFill/>
          <a:ln>
            <a:noFill/>
          </a:ln>
        </p:spPr>
      </p:pic>
      <p:sp>
        <p:nvSpPr>
          <p:cNvPr id="292" name="Google Shape;292;p13"/>
          <p:cNvSpPr txBox="1"/>
          <p:nvPr/>
        </p:nvSpPr>
        <p:spPr>
          <a:xfrm>
            <a:off x="4846320" y="1993392"/>
            <a:ext cx="155448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300"/>
              <a:buFont typeface="Poppins"/>
              <a:buNone/>
            </a:pPr>
            <a:r>
              <a:rPr b="1" i="0" lang="en-US" sz="1300" u="none" cap="none" strike="noStrike">
                <a:solidFill>
                  <a:srgbClr val="1B1E33"/>
                </a:solidFill>
                <a:latin typeface="Poppins"/>
                <a:ea typeface="Poppins"/>
                <a:cs typeface="Poppins"/>
                <a:sym typeface="Poppins"/>
              </a:rPr>
              <a:t>Accounts and data</a:t>
            </a:r>
            <a:endParaRPr b="0" i="0" sz="1300" u="none" cap="none" strike="noStrike">
              <a:solidFill>
                <a:schemeClr val="dk1"/>
              </a:solidFill>
              <a:latin typeface="Inter"/>
              <a:ea typeface="Inter"/>
              <a:cs typeface="Inter"/>
              <a:sym typeface="Inter"/>
            </a:endParaRPr>
          </a:p>
          <a:p>
            <a:pPr indent="0" lvl="0" marL="0" marR="0" rtl="0" algn="l">
              <a:spcBef>
                <a:spcPts val="400"/>
              </a:spcBef>
              <a:spcAft>
                <a:spcPts val="0"/>
              </a:spcAft>
              <a:buClr>
                <a:srgbClr val="5B6078"/>
              </a:buClr>
              <a:buSzPts val="1000"/>
              <a:buFont typeface="Inter"/>
              <a:buNone/>
            </a:pPr>
            <a:r>
              <a:rPr b="0" i="0" lang="en-US" sz="1000" u="none" cap="none" strike="noStrike">
                <a:solidFill>
                  <a:srgbClr val="5B6078"/>
                </a:solidFill>
                <a:latin typeface="Inter"/>
                <a:ea typeface="Inter"/>
                <a:cs typeface="Inter"/>
                <a:sym typeface="Inter"/>
              </a:rPr>
              <a:t>Supabase sign-in with email verification; each student's work kept private</a:t>
            </a:r>
            <a:endParaRPr b="0" i="0" sz="1300" u="none" cap="none" strike="noStrike">
              <a:solidFill>
                <a:schemeClr val="dk1"/>
              </a:solidFill>
              <a:latin typeface="Inter"/>
              <a:ea typeface="Inter"/>
              <a:cs typeface="Inter"/>
              <a:sym typeface="Inter"/>
            </a:endParaRPr>
          </a:p>
        </p:txBody>
      </p:sp>
      <p:sp>
        <p:nvSpPr>
          <p:cNvPr id="293" name="Google Shape;293;p13"/>
          <p:cNvSpPr/>
          <p:nvPr/>
        </p:nvSpPr>
        <p:spPr>
          <a:xfrm>
            <a:off x="6766560" y="1280160"/>
            <a:ext cx="1920240" cy="1874520"/>
          </a:xfrm>
          <a:prstGeom prst="roundRect">
            <a:avLst>
              <a:gd fmla="val 5854"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3"/>
          <p:cNvSpPr/>
          <p:nvPr/>
        </p:nvSpPr>
        <p:spPr>
          <a:xfrm>
            <a:off x="6949440" y="1463040"/>
            <a:ext cx="457200" cy="457200"/>
          </a:xfrm>
          <a:prstGeom prst="ellipse">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5" name="Google Shape;295;p13"/>
          <p:cNvPicPr preferRelativeResize="0"/>
          <p:nvPr/>
        </p:nvPicPr>
        <p:blipFill rotWithShape="1">
          <a:blip r:embed="rId6">
            <a:alphaModFix/>
          </a:blip>
          <a:srcRect b="0" l="0" r="0" t="0"/>
          <a:stretch/>
        </p:blipFill>
        <p:spPr>
          <a:xfrm>
            <a:off x="7050024" y="1563624"/>
            <a:ext cx="256032" cy="256032"/>
          </a:xfrm>
          <a:prstGeom prst="rect">
            <a:avLst/>
          </a:prstGeom>
          <a:noFill/>
          <a:ln>
            <a:noFill/>
          </a:ln>
        </p:spPr>
      </p:pic>
      <p:sp>
        <p:nvSpPr>
          <p:cNvPr id="296" name="Google Shape;296;p13"/>
          <p:cNvSpPr txBox="1"/>
          <p:nvPr/>
        </p:nvSpPr>
        <p:spPr>
          <a:xfrm>
            <a:off x="6949440" y="1993392"/>
            <a:ext cx="155448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1300"/>
              <a:buFont typeface="Poppins"/>
              <a:buNone/>
            </a:pPr>
            <a:r>
              <a:rPr b="1" i="0" lang="en-US" sz="1300" u="none" cap="none" strike="noStrike">
                <a:solidFill>
                  <a:srgbClr val="1B1E33"/>
                </a:solidFill>
                <a:latin typeface="Poppins"/>
                <a:ea typeface="Poppins"/>
                <a:cs typeface="Poppins"/>
                <a:sym typeface="Poppins"/>
              </a:rPr>
              <a:t>Hosting</a:t>
            </a:r>
            <a:endParaRPr b="0" i="0" sz="1300" u="none" cap="none" strike="noStrike">
              <a:solidFill>
                <a:schemeClr val="dk1"/>
              </a:solidFill>
              <a:latin typeface="Inter"/>
              <a:ea typeface="Inter"/>
              <a:cs typeface="Inter"/>
              <a:sym typeface="Inter"/>
            </a:endParaRPr>
          </a:p>
          <a:p>
            <a:pPr indent="0" lvl="0" marL="0" marR="0" rtl="0" algn="l">
              <a:spcBef>
                <a:spcPts val="400"/>
              </a:spcBef>
              <a:spcAft>
                <a:spcPts val="0"/>
              </a:spcAft>
              <a:buClr>
                <a:srgbClr val="5B6078"/>
              </a:buClr>
              <a:buSzPts val="1000"/>
              <a:buFont typeface="Inter"/>
              <a:buNone/>
            </a:pPr>
            <a:r>
              <a:rPr b="0" i="0" lang="en-US" sz="1000" u="none" cap="none" strike="noStrike">
                <a:solidFill>
                  <a:srgbClr val="5B6078"/>
                </a:solidFill>
                <a:latin typeface="Inter"/>
                <a:ea typeface="Inter"/>
                <a:cs typeface="Inter"/>
                <a:sym typeface="Inter"/>
              </a:rPr>
              <a:t>Deployed on Vercel at researchmate.online</a:t>
            </a:r>
            <a:endParaRPr b="0" i="0" sz="1300" u="none" cap="none" strike="noStrike">
              <a:solidFill>
                <a:schemeClr val="dk1"/>
              </a:solidFill>
              <a:latin typeface="Inter"/>
              <a:ea typeface="Inter"/>
              <a:cs typeface="Inter"/>
              <a:sym typeface="Inter"/>
            </a:endParaRPr>
          </a:p>
        </p:txBody>
      </p:sp>
      <p:sp>
        <p:nvSpPr>
          <p:cNvPr id="297" name="Google Shape;297;p13"/>
          <p:cNvSpPr txBox="1"/>
          <p:nvPr/>
        </p:nvSpPr>
        <p:spPr>
          <a:xfrm>
            <a:off x="457200" y="333756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E33"/>
              </a:buClr>
              <a:buSzPts val="1200"/>
              <a:buFont typeface="Poppins"/>
              <a:buNone/>
            </a:pPr>
            <a:r>
              <a:rPr b="1" i="0" lang="en-US" sz="1200" u="none" cap="none" strike="noStrike">
                <a:solidFill>
                  <a:srgbClr val="1B1E33"/>
                </a:solidFill>
                <a:latin typeface="Poppins"/>
                <a:ea typeface="Poppins"/>
                <a:cs typeface="Poppins"/>
                <a:sym typeface="Poppins"/>
              </a:rPr>
              <a:t>Six cooperating AI agents</a:t>
            </a:r>
            <a:endParaRPr b="0" i="0" sz="1200" u="none" cap="none" strike="noStrike">
              <a:solidFill>
                <a:schemeClr val="dk1"/>
              </a:solidFill>
              <a:latin typeface="Inter"/>
              <a:ea typeface="Inter"/>
              <a:cs typeface="Inter"/>
              <a:sym typeface="Inter"/>
            </a:endParaRPr>
          </a:p>
        </p:txBody>
      </p:sp>
      <p:sp>
        <p:nvSpPr>
          <p:cNvPr id="298" name="Google Shape;298;p13"/>
          <p:cNvSpPr/>
          <p:nvPr/>
        </p:nvSpPr>
        <p:spPr>
          <a:xfrm>
            <a:off x="457200" y="3703320"/>
            <a:ext cx="1280160" cy="457200"/>
          </a:xfrm>
          <a:prstGeom prst="roundRect">
            <a:avLst>
              <a:gd fmla="val 50000" name="adj"/>
            </a:avLst>
          </a:prstGeom>
          <a:solidFill>
            <a:srgbClr val="4F46E5"/>
          </a:solidFill>
          <a:ln cap="flat" cmpd="sng" w="12700">
            <a:solidFill>
              <a:srgbClr val="4F46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3"/>
          <p:cNvSpPr txBox="1"/>
          <p:nvPr/>
        </p:nvSpPr>
        <p:spPr>
          <a:xfrm>
            <a:off x="457200" y="3703320"/>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Inter"/>
              <a:buNone/>
            </a:pPr>
            <a:r>
              <a:rPr b="1" i="0" lang="en-US" sz="900" u="none" cap="none" strike="noStrike">
                <a:solidFill>
                  <a:srgbClr val="FFFFFF"/>
                </a:solidFill>
                <a:latin typeface="Inter"/>
                <a:ea typeface="Inter"/>
                <a:cs typeface="Inter"/>
                <a:sym typeface="Inter"/>
              </a:rPr>
              <a:t>Interviewer</a:t>
            </a:r>
            <a:endParaRPr b="0" i="0" sz="900" u="none" cap="none" strike="noStrike">
              <a:solidFill>
                <a:schemeClr val="dk1"/>
              </a:solidFill>
              <a:latin typeface="Inter"/>
              <a:ea typeface="Inter"/>
              <a:cs typeface="Inter"/>
              <a:sym typeface="Inter"/>
            </a:endParaRPr>
          </a:p>
        </p:txBody>
      </p:sp>
      <p:sp>
        <p:nvSpPr>
          <p:cNvPr id="300" name="Google Shape;300;p13"/>
          <p:cNvSpPr/>
          <p:nvPr/>
        </p:nvSpPr>
        <p:spPr>
          <a:xfrm>
            <a:off x="1847088" y="3703320"/>
            <a:ext cx="1280160" cy="457200"/>
          </a:xfrm>
          <a:prstGeom prst="roundRect">
            <a:avLst>
              <a:gd fmla="val 50000" name="adj"/>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3"/>
          <p:cNvSpPr txBox="1"/>
          <p:nvPr/>
        </p:nvSpPr>
        <p:spPr>
          <a:xfrm>
            <a:off x="1847088" y="3703320"/>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46E5"/>
              </a:buClr>
              <a:buSzPts val="900"/>
              <a:buFont typeface="Inter"/>
              <a:buNone/>
            </a:pPr>
            <a:r>
              <a:rPr b="1" i="0" lang="en-US" sz="900" u="none" cap="none" strike="noStrike">
                <a:solidFill>
                  <a:srgbClr val="4F46E5"/>
                </a:solidFill>
                <a:latin typeface="Inter"/>
                <a:ea typeface="Inter"/>
                <a:cs typeface="Inter"/>
                <a:sym typeface="Inter"/>
              </a:rPr>
              <a:t>Source Discovery</a:t>
            </a:r>
            <a:endParaRPr b="0" i="0" sz="900" u="none" cap="none" strike="noStrike">
              <a:solidFill>
                <a:schemeClr val="dk1"/>
              </a:solidFill>
              <a:latin typeface="Inter"/>
              <a:ea typeface="Inter"/>
              <a:cs typeface="Inter"/>
              <a:sym typeface="Inter"/>
            </a:endParaRPr>
          </a:p>
        </p:txBody>
      </p:sp>
      <p:sp>
        <p:nvSpPr>
          <p:cNvPr id="302" name="Google Shape;302;p13"/>
          <p:cNvSpPr/>
          <p:nvPr/>
        </p:nvSpPr>
        <p:spPr>
          <a:xfrm>
            <a:off x="3236976" y="3703320"/>
            <a:ext cx="1280160" cy="457200"/>
          </a:xfrm>
          <a:prstGeom prst="roundRect">
            <a:avLst>
              <a:gd fmla="val 50000" name="adj"/>
            </a:avLst>
          </a:prstGeom>
          <a:solidFill>
            <a:srgbClr val="4F46E5"/>
          </a:solidFill>
          <a:ln cap="flat" cmpd="sng" w="12700">
            <a:solidFill>
              <a:srgbClr val="4F46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3"/>
          <p:cNvSpPr txBox="1"/>
          <p:nvPr/>
        </p:nvSpPr>
        <p:spPr>
          <a:xfrm>
            <a:off x="3236976" y="3703320"/>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Inter"/>
              <a:buNone/>
            </a:pPr>
            <a:r>
              <a:rPr b="1" i="0" lang="en-US" sz="900" u="none" cap="none" strike="noStrike">
                <a:solidFill>
                  <a:srgbClr val="FFFFFF"/>
                </a:solidFill>
                <a:latin typeface="Inter"/>
                <a:ea typeface="Inter"/>
                <a:cs typeface="Inter"/>
                <a:sym typeface="Inter"/>
              </a:rPr>
              <a:t>Outline Builder</a:t>
            </a:r>
            <a:endParaRPr b="0" i="0" sz="900" u="none" cap="none" strike="noStrike">
              <a:solidFill>
                <a:schemeClr val="dk1"/>
              </a:solidFill>
              <a:latin typeface="Inter"/>
              <a:ea typeface="Inter"/>
              <a:cs typeface="Inter"/>
              <a:sym typeface="Inter"/>
            </a:endParaRPr>
          </a:p>
        </p:txBody>
      </p:sp>
      <p:sp>
        <p:nvSpPr>
          <p:cNvPr id="304" name="Google Shape;304;p13"/>
          <p:cNvSpPr/>
          <p:nvPr/>
        </p:nvSpPr>
        <p:spPr>
          <a:xfrm>
            <a:off x="4626864" y="3703320"/>
            <a:ext cx="1280160" cy="457200"/>
          </a:xfrm>
          <a:prstGeom prst="roundRect">
            <a:avLst>
              <a:gd fmla="val 50000" name="adj"/>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3"/>
          <p:cNvSpPr txBox="1"/>
          <p:nvPr/>
        </p:nvSpPr>
        <p:spPr>
          <a:xfrm>
            <a:off x="4626864" y="3703320"/>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46E5"/>
              </a:buClr>
              <a:buSzPts val="900"/>
              <a:buFont typeface="Inter"/>
              <a:buNone/>
            </a:pPr>
            <a:r>
              <a:rPr b="1" i="0" lang="en-US" sz="900" u="none" cap="none" strike="noStrike">
                <a:solidFill>
                  <a:srgbClr val="4F46E5"/>
                </a:solidFill>
                <a:latin typeface="Inter"/>
                <a:ea typeface="Inter"/>
                <a:cs typeface="Inter"/>
                <a:sym typeface="Inter"/>
              </a:rPr>
              <a:t>Writing Partner</a:t>
            </a:r>
            <a:endParaRPr b="0" i="0" sz="900" u="none" cap="none" strike="noStrike">
              <a:solidFill>
                <a:schemeClr val="dk1"/>
              </a:solidFill>
              <a:latin typeface="Inter"/>
              <a:ea typeface="Inter"/>
              <a:cs typeface="Inter"/>
              <a:sym typeface="Inter"/>
            </a:endParaRPr>
          </a:p>
        </p:txBody>
      </p:sp>
      <p:sp>
        <p:nvSpPr>
          <p:cNvPr id="306" name="Google Shape;306;p13"/>
          <p:cNvSpPr/>
          <p:nvPr/>
        </p:nvSpPr>
        <p:spPr>
          <a:xfrm>
            <a:off x="6016752" y="3703320"/>
            <a:ext cx="1280160" cy="457200"/>
          </a:xfrm>
          <a:prstGeom prst="roundRect">
            <a:avLst>
              <a:gd fmla="val 50000" name="adj"/>
            </a:avLst>
          </a:prstGeom>
          <a:solidFill>
            <a:srgbClr val="4F46E5"/>
          </a:solidFill>
          <a:ln cap="flat" cmpd="sng" w="12700">
            <a:solidFill>
              <a:srgbClr val="4F46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3"/>
          <p:cNvSpPr txBox="1"/>
          <p:nvPr/>
        </p:nvSpPr>
        <p:spPr>
          <a:xfrm>
            <a:off x="6016752" y="3703320"/>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Inter"/>
              <a:buNone/>
            </a:pPr>
            <a:r>
              <a:rPr b="1" i="0" lang="en-US" sz="900" u="none" cap="none" strike="noStrike">
                <a:solidFill>
                  <a:srgbClr val="FFFFFF"/>
                </a:solidFill>
                <a:latin typeface="Inter"/>
                <a:ea typeface="Inter"/>
                <a:cs typeface="Inter"/>
                <a:sym typeface="Inter"/>
              </a:rPr>
              <a:t>Editor</a:t>
            </a:r>
            <a:endParaRPr b="0" i="0" sz="900" u="none" cap="none" strike="noStrike">
              <a:solidFill>
                <a:schemeClr val="dk1"/>
              </a:solidFill>
              <a:latin typeface="Inter"/>
              <a:ea typeface="Inter"/>
              <a:cs typeface="Inter"/>
              <a:sym typeface="Inter"/>
            </a:endParaRPr>
          </a:p>
        </p:txBody>
      </p:sp>
      <p:sp>
        <p:nvSpPr>
          <p:cNvPr id="308" name="Google Shape;308;p13"/>
          <p:cNvSpPr/>
          <p:nvPr/>
        </p:nvSpPr>
        <p:spPr>
          <a:xfrm>
            <a:off x="7406640" y="3703320"/>
            <a:ext cx="1280160" cy="457200"/>
          </a:xfrm>
          <a:prstGeom prst="roundRect">
            <a:avLst>
              <a:gd fmla="val 50000" name="adj"/>
            </a:avLst>
          </a:prstGeom>
          <a:solidFill>
            <a:srgbClr val="E6E7FB"/>
          </a:solidFill>
          <a:ln cap="flat" cmpd="sng" w="12700">
            <a:solidFill>
              <a:srgbClr val="E6E7F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3"/>
          <p:cNvSpPr txBox="1"/>
          <p:nvPr/>
        </p:nvSpPr>
        <p:spPr>
          <a:xfrm>
            <a:off x="7406640" y="3703320"/>
            <a:ext cx="128016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F46E5"/>
              </a:buClr>
              <a:buSzPts val="900"/>
              <a:buFont typeface="Inter"/>
              <a:buNone/>
            </a:pPr>
            <a:r>
              <a:rPr b="1" i="0" lang="en-US" sz="900" u="none" cap="none" strike="noStrike">
                <a:solidFill>
                  <a:srgbClr val="4F46E5"/>
                </a:solidFill>
                <a:latin typeface="Inter"/>
                <a:ea typeface="Inter"/>
                <a:cs typeface="Inter"/>
                <a:sym typeface="Inter"/>
              </a:rPr>
              <a:t>Verification</a:t>
            </a:r>
            <a:endParaRPr b="0" i="0" sz="900" u="none" cap="none" strike="noStrike">
              <a:solidFill>
                <a:schemeClr val="dk1"/>
              </a:solidFill>
              <a:latin typeface="Inter"/>
              <a:ea typeface="Inter"/>
              <a:cs typeface="Inter"/>
              <a:sym typeface="Inter"/>
            </a:endParaRPr>
          </a:p>
        </p:txBody>
      </p:sp>
      <p:sp>
        <p:nvSpPr>
          <p:cNvPr id="310" name="Google Shape;310;p13"/>
          <p:cNvSpPr txBox="1"/>
          <p:nvPr/>
        </p:nvSpPr>
        <p:spPr>
          <a:xfrm>
            <a:off x="457200" y="4315968"/>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078"/>
              </a:buClr>
              <a:buSzPts val="1000"/>
              <a:buFont typeface="Inter"/>
              <a:buNone/>
            </a:pPr>
            <a:r>
              <a:rPr b="0" i="1" lang="en-US" sz="1000" u="none" cap="none" strike="noStrike">
                <a:solidFill>
                  <a:srgbClr val="5B6078"/>
                </a:solidFill>
                <a:latin typeface="Inter"/>
                <a:ea typeface="Inter"/>
                <a:cs typeface="Inter"/>
                <a:sym typeface="Inter"/>
              </a:rPr>
              <a:t>Built step by step with Claude Code and tested with Vitest.</a:t>
            </a:r>
            <a:endParaRPr b="0" i="0" sz="1000" u="none" cap="none" strike="noStrike">
              <a:solidFill>
                <a:schemeClr val="dk1"/>
              </a:solidFill>
              <a:latin typeface="Inter"/>
              <a:ea typeface="Inter"/>
              <a:cs typeface="Inter"/>
              <a:sym typeface="Inter"/>
            </a:endParaRPr>
          </a:p>
        </p:txBody>
      </p:sp>
      <p:sp>
        <p:nvSpPr>
          <p:cNvPr id="311" name="Google Shape;311;p13"/>
          <p:cNvSpPr txBox="1"/>
          <p:nvPr>
            <p:ph idx="4294967295" type="sldNum"/>
          </p:nvPr>
        </p:nvSpPr>
        <p:spPr>
          <a:xfrm>
            <a:off x="822960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FA8"/>
                </a:solidFill>
                <a:latin typeface="Inter"/>
                <a:ea typeface="Inter"/>
                <a:cs typeface="Inter"/>
                <a:sym typeface="Inter"/>
              </a:rPr>
              <a:t>‹#›</a:t>
            </a:fld>
            <a:endParaRPr b="0" i="0" sz="900" u="none" cap="none" strike="noStrike">
              <a:solidFill>
                <a:srgbClr val="8A8FA8"/>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4"/>
          <p:cNvSpPr txBox="1"/>
          <p:nvPr/>
        </p:nvSpPr>
        <p:spPr>
          <a:xfrm>
            <a:off x="457200" y="292608"/>
            <a:ext cx="8229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1000"/>
              <a:buFont typeface="Inter"/>
              <a:buNone/>
            </a:pPr>
            <a:r>
              <a:rPr b="1" i="0" lang="en-US" sz="1000" u="none" cap="none" strike="noStrike">
                <a:solidFill>
                  <a:srgbClr val="4F46E5"/>
                </a:solidFill>
                <a:latin typeface="Inter"/>
                <a:ea typeface="Inter"/>
                <a:cs typeface="Inter"/>
                <a:sym typeface="Inter"/>
              </a:rPr>
              <a:t>9 · HOW WE WANT TO GROW IT FURTHER</a:t>
            </a:r>
            <a:endParaRPr b="0" i="0" sz="1000" u="none" cap="none" strike="noStrike">
              <a:solidFill>
                <a:schemeClr val="dk1"/>
              </a:solidFill>
              <a:latin typeface="Inter"/>
              <a:ea typeface="Inter"/>
              <a:cs typeface="Inter"/>
              <a:sym typeface="Inter"/>
            </a:endParaRPr>
          </a:p>
        </p:txBody>
      </p:sp>
      <p:sp>
        <p:nvSpPr>
          <p:cNvPr id="318" name="Google Shape;318;p14"/>
          <p:cNvSpPr txBox="1"/>
          <p:nvPr/>
        </p:nvSpPr>
        <p:spPr>
          <a:xfrm>
            <a:off x="457200" y="530352"/>
            <a:ext cx="82296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1E33"/>
              </a:buClr>
              <a:buSzPts val="2400"/>
              <a:buFont typeface="Poppins"/>
              <a:buNone/>
            </a:pPr>
            <a:r>
              <a:rPr b="1" i="0" lang="en-US" sz="2400" u="none" cap="none" strike="noStrike">
                <a:solidFill>
                  <a:srgbClr val="1B1E33"/>
                </a:solidFill>
                <a:latin typeface="Poppins"/>
                <a:ea typeface="Poppins"/>
                <a:cs typeface="Poppins"/>
                <a:sym typeface="Poppins"/>
              </a:rPr>
              <a:t>Next steps for Research Mate</a:t>
            </a:r>
            <a:endParaRPr b="0" i="0" sz="2400" u="none" cap="none" strike="noStrike">
              <a:solidFill>
                <a:schemeClr val="dk1"/>
              </a:solidFill>
              <a:latin typeface="Inter"/>
              <a:ea typeface="Inter"/>
              <a:cs typeface="Inter"/>
              <a:sym typeface="Inter"/>
            </a:endParaRPr>
          </a:p>
        </p:txBody>
      </p:sp>
      <p:sp>
        <p:nvSpPr>
          <p:cNvPr id="319" name="Google Shape;319;p14"/>
          <p:cNvSpPr/>
          <p:nvPr/>
        </p:nvSpPr>
        <p:spPr>
          <a:xfrm>
            <a:off x="457200" y="1280160"/>
            <a:ext cx="2560320" cy="2834640"/>
          </a:xfrm>
          <a:prstGeom prst="roundRect">
            <a:avLst>
              <a:gd fmla="val 4286"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4"/>
          <p:cNvSpPr/>
          <p:nvPr/>
        </p:nvSpPr>
        <p:spPr>
          <a:xfrm>
            <a:off x="685800" y="1508760"/>
            <a:ext cx="777240" cy="292608"/>
          </a:xfrm>
          <a:prstGeom prst="roundRect">
            <a:avLst>
              <a:gd fmla="val 50000" name="adj"/>
            </a:avLst>
          </a:prstGeom>
          <a:solidFill>
            <a:srgbClr val="A3E635"/>
          </a:solidFill>
          <a:ln cap="flat" cmpd="sng" w="12700">
            <a:solidFill>
              <a:srgbClr val="A3E6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4"/>
          <p:cNvSpPr txBox="1"/>
          <p:nvPr/>
        </p:nvSpPr>
        <p:spPr>
          <a:xfrm>
            <a:off x="685800" y="1508760"/>
            <a:ext cx="7772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72A"/>
              </a:buClr>
              <a:buSzPts val="900"/>
              <a:buFont typeface="Inter"/>
              <a:buNone/>
            </a:pPr>
            <a:r>
              <a:rPr b="1" i="0" lang="en-US" sz="900" u="none" cap="none" strike="noStrike">
                <a:solidFill>
                  <a:srgbClr val="14172A"/>
                </a:solidFill>
                <a:latin typeface="Inter"/>
                <a:ea typeface="Inter"/>
                <a:cs typeface="Inter"/>
                <a:sym typeface="Inter"/>
              </a:rPr>
              <a:t>NEXT</a:t>
            </a:r>
            <a:endParaRPr b="0" i="0" sz="900" u="none" cap="none" strike="noStrike">
              <a:solidFill>
                <a:schemeClr val="dk1"/>
              </a:solidFill>
              <a:latin typeface="Inter"/>
              <a:ea typeface="Inter"/>
              <a:cs typeface="Inter"/>
              <a:sym typeface="Inter"/>
            </a:endParaRPr>
          </a:p>
        </p:txBody>
      </p:sp>
      <p:pic>
        <p:nvPicPr>
          <p:cNvPr descr="preencoded.png" id="322" name="Google Shape;322;p14"/>
          <p:cNvPicPr preferRelativeResize="0"/>
          <p:nvPr/>
        </p:nvPicPr>
        <p:blipFill rotWithShape="1">
          <a:blip r:embed="rId3">
            <a:alphaModFix/>
          </a:blip>
          <a:srcRect b="0" l="0" r="0" t="0"/>
          <a:stretch/>
        </p:blipFill>
        <p:spPr>
          <a:xfrm>
            <a:off x="2450592" y="1490472"/>
            <a:ext cx="329184" cy="329184"/>
          </a:xfrm>
          <a:prstGeom prst="rect">
            <a:avLst/>
          </a:prstGeom>
          <a:noFill/>
          <a:ln>
            <a:noFill/>
          </a:ln>
        </p:spPr>
      </p:pic>
      <p:sp>
        <p:nvSpPr>
          <p:cNvPr id="323" name="Google Shape;323;p14"/>
          <p:cNvSpPr txBox="1"/>
          <p:nvPr/>
        </p:nvSpPr>
        <p:spPr>
          <a:xfrm>
            <a:off x="685800" y="2011680"/>
            <a:ext cx="2103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E33"/>
              </a:buClr>
              <a:buSzPts val="1500"/>
              <a:buFont typeface="Poppins"/>
              <a:buNone/>
            </a:pPr>
            <a:r>
              <a:rPr b="1" i="0" lang="en-US" sz="1500" u="none" cap="none" strike="noStrike">
                <a:solidFill>
                  <a:srgbClr val="1B1E33"/>
                </a:solidFill>
                <a:latin typeface="Poppins"/>
                <a:ea typeface="Poppins"/>
                <a:cs typeface="Poppins"/>
                <a:sym typeface="Poppins"/>
              </a:rPr>
              <a:t>Smarter agents</a:t>
            </a:r>
            <a:endParaRPr b="0" i="0" sz="1500" u="none" cap="none" strike="noStrike">
              <a:solidFill>
                <a:schemeClr val="dk1"/>
              </a:solidFill>
              <a:latin typeface="Inter"/>
              <a:ea typeface="Inter"/>
              <a:cs typeface="Inter"/>
              <a:sym typeface="Inter"/>
            </a:endParaRPr>
          </a:p>
        </p:txBody>
      </p:sp>
      <p:sp>
        <p:nvSpPr>
          <p:cNvPr id="324" name="Google Shape;324;p14"/>
          <p:cNvSpPr txBox="1"/>
          <p:nvPr/>
        </p:nvSpPr>
        <p:spPr>
          <a:xfrm>
            <a:off x="685800" y="2423160"/>
            <a:ext cx="210312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More academic databases, better document analysis, and agents that work together to verify evidence and spot research gaps more reliably.</a:t>
            </a:r>
            <a:endParaRPr b="0" i="0" sz="1100" u="none" cap="none" strike="noStrike">
              <a:solidFill>
                <a:schemeClr val="dk1"/>
              </a:solidFill>
              <a:latin typeface="Inter"/>
              <a:ea typeface="Inter"/>
              <a:cs typeface="Inter"/>
              <a:sym typeface="Inter"/>
            </a:endParaRPr>
          </a:p>
        </p:txBody>
      </p:sp>
      <p:sp>
        <p:nvSpPr>
          <p:cNvPr id="325" name="Google Shape;325;p14"/>
          <p:cNvSpPr/>
          <p:nvPr/>
        </p:nvSpPr>
        <p:spPr>
          <a:xfrm>
            <a:off x="3291840" y="1280160"/>
            <a:ext cx="2560320" cy="2834640"/>
          </a:xfrm>
          <a:prstGeom prst="roundRect">
            <a:avLst>
              <a:gd fmla="val 4286"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4"/>
          <p:cNvSpPr/>
          <p:nvPr/>
        </p:nvSpPr>
        <p:spPr>
          <a:xfrm>
            <a:off x="3520440" y="1508760"/>
            <a:ext cx="777240" cy="292608"/>
          </a:xfrm>
          <a:prstGeom prst="roundRect">
            <a:avLst>
              <a:gd fmla="val 50000" name="adj"/>
            </a:avLst>
          </a:prstGeom>
          <a:solidFill>
            <a:srgbClr val="8B9CF8"/>
          </a:solidFill>
          <a:ln cap="flat" cmpd="sng" w="12700">
            <a:solidFill>
              <a:srgbClr val="8B9C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4"/>
          <p:cNvSpPr txBox="1"/>
          <p:nvPr/>
        </p:nvSpPr>
        <p:spPr>
          <a:xfrm>
            <a:off x="3520440" y="1508760"/>
            <a:ext cx="7772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72A"/>
              </a:buClr>
              <a:buSzPts val="900"/>
              <a:buFont typeface="Inter"/>
              <a:buNone/>
            </a:pPr>
            <a:r>
              <a:rPr b="1" i="0" lang="en-US" sz="900" u="none" cap="none" strike="noStrike">
                <a:solidFill>
                  <a:srgbClr val="14172A"/>
                </a:solidFill>
                <a:latin typeface="Inter"/>
                <a:ea typeface="Inter"/>
                <a:cs typeface="Inter"/>
                <a:sym typeface="Inter"/>
              </a:rPr>
              <a:t>SOON</a:t>
            </a:r>
            <a:endParaRPr b="0" i="0" sz="900" u="none" cap="none" strike="noStrike">
              <a:solidFill>
                <a:schemeClr val="dk1"/>
              </a:solidFill>
              <a:latin typeface="Inter"/>
              <a:ea typeface="Inter"/>
              <a:cs typeface="Inter"/>
              <a:sym typeface="Inter"/>
            </a:endParaRPr>
          </a:p>
        </p:txBody>
      </p:sp>
      <p:pic>
        <p:nvPicPr>
          <p:cNvPr descr="preencoded.png" id="328" name="Google Shape;328;p14"/>
          <p:cNvPicPr preferRelativeResize="0"/>
          <p:nvPr/>
        </p:nvPicPr>
        <p:blipFill rotWithShape="1">
          <a:blip r:embed="rId4">
            <a:alphaModFix/>
          </a:blip>
          <a:srcRect b="0" l="0" r="0" t="0"/>
          <a:stretch/>
        </p:blipFill>
        <p:spPr>
          <a:xfrm>
            <a:off x="5285232" y="1490472"/>
            <a:ext cx="329184" cy="329184"/>
          </a:xfrm>
          <a:prstGeom prst="rect">
            <a:avLst/>
          </a:prstGeom>
          <a:noFill/>
          <a:ln>
            <a:noFill/>
          </a:ln>
        </p:spPr>
      </p:pic>
      <p:sp>
        <p:nvSpPr>
          <p:cNvPr id="329" name="Google Shape;329;p14"/>
          <p:cNvSpPr txBox="1"/>
          <p:nvPr/>
        </p:nvSpPr>
        <p:spPr>
          <a:xfrm>
            <a:off x="3520440" y="2011680"/>
            <a:ext cx="2103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E33"/>
              </a:buClr>
              <a:buSzPts val="1500"/>
              <a:buFont typeface="Poppins"/>
              <a:buNone/>
            </a:pPr>
            <a:r>
              <a:rPr b="1" i="0" lang="en-US" sz="1500" u="none" cap="none" strike="noStrike">
                <a:solidFill>
                  <a:srgbClr val="1B1E33"/>
                </a:solidFill>
                <a:latin typeface="Poppins"/>
                <a:ea typeface="Poppins"/>
                <a:cs typeface="Poppins"/>
                <a:sym typeface="Poppins"/>
              </a:rPr>
              <a:t>Reach more people</a:t>
            </a:r>
            <a:endParaRPr b="0" i="0" sz="1500" u="none" cap="none" strike="noStrike">
              <a:solidFill>
                <a:schemeClr val="dk1"/>
              </a:solidFill>
              <a:latin typeface="Inter"/>
              <a:ea typeface="Inter"/>
              <a:cs typeface="Inter"/>
              <a:sym typeface="Inter"/>
            </a:endParaRPr>
          </a:p>
        </p:txBody>
      </p:sp>
      <p:sp>
        <p:nvSpPr>
          <p:cNvPr id="330" name="Google Shape;330;p14"/>
          <p:cNvSpPr txBox="1"/>
          <p:nvPr/>
        </p:nvSpPr>
        <p:spPr>
          <a:xfrm>
            <a:off x="3520440" y="2423160"/>
            <a:ext cx="210312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More languages, voice interaction, offline access to saved research and even better accessibility for users with disabilities.</a:t>
            </a:r>
            <a:endParaRPr b="0" i="0" sz="1100" u="none" cap="none" strike="noStrike">
              <a:solidFill>
                <a:schemeClr val="dk1"/>
              </a:solidFill>
              <a:latin typeface="Inter"/>
              <a:ea typeface="Inter"/>
              <a:cs typeface="Inter"/>
              <a:sym typeface="Inter"/>
            </a:endParaRPr>
          </a:p>
        </p:txBody>
      </p:sp>
      <p:sp>
        <p:nvSpPr>
          <p:cNvPr id="331" name="Google Shape;331;p14"/>
          <p:cNvSpPr/>
          <p:nvPr/>
        </p:nvSpPr>
        <p:spPr>
          <a:xfrm>
            <a:off x="6126480" y="1280160"/>
            <a:ext cx="2560320" cy="2834640"/>
          </a:xfrm>
          <a:prstGeom prst="roundRect">
            <a:avLst>
              <a:gd fmla="val 4286" name="adj"/>
            </a:avLst>
          </a:prstGeom>
          <a:solidFill>
            <a:srgbClr val="F3F4FB"/>
          </a:solidFill>
          <a:ln cap="flat" cmpd="sng" w="9525">
            <a:solidFill>
              <a:srgbClr val="E2E4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4"/>
          <p:cNvSpPr/>
          <p:nvPr/>
        </p:nvSpPr>
        <p:spPr>
          <a:xfrm>
            <a:off x="6355080" y="1508760"/>
            <a:ext cx="777240" cy="292608"/>
          </a:xfrm>
          <a:prstGeom prst="roundRect">
            <a:avLst>
              <a:gd fmla="val 50000" name="adj"/>
            </a:avLst>
          </a:prstGeom>
          <a:solidFill>
            <a:srgbClr val="C7D2FE"/>
          </a:solidFill>
          <a:ln cap="flat" cmpd="sng" w="12700">
            <a:solidFill>
              <a:srgbClr val="C7D2F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4"/>
          <p:cNvSpPr txBox="1"/>
          <p:nvPr/>
        </p:nvSpPr>
        <p:spPr>
          <a:xfrm>
            <a:off x="6355080" y="1508760"/>
            <a:ext cx="7772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172A"/>
              </a:buClr>
              <a:buSzPts val="900"/>
              <a:buFont typeface="Inter"/>
              <a:buNone/>
            </a:pPr>
            <a:r>
              <a:rPr b="1" i="0" lang="en-US" sz="900" u="none" cap="none" strike="noStrike">
                <a:solidFill>
                  <a:srgbClr val="14172A"/>
                </a:solidFill>
                <a:latin typeface="Inter"/>
                <a:ea typeface="Inter"/>
                <a:cs typeface="Inter"/>
                <a:sym typeface="Inter"/>
              </a:rPr>
              <a:t>LATER</a:t>
            </a:r>
            <a:endParaRPr b="0" i="0" sz="900" u="none" cap="none" strike="noStrike">
              <a:solidFill>
                <a:schemeClr val="dk1"/>
              </a:solidFill>
              <a:latin typeface="Inter"/>
              <a:ea typeface="Inter"/>
              <a:cs typeface="Inter"/>
              <a:sym typeface="Inter"/>
            </a:endParaRPr>
          </a:p>
        </p:txBody>
      </p:sp>
      <p:pic>
        <p:nvPicPr>
          <p:cNvPr descr="preencoded.png" id="334" name="Google Shape;334;p14"/>
          <p:cNvPicPr preferRelativeResize="0"/>
          <p:nvPr/>
        </p:nvPicPr>
        <p:blipFill rotWithShape="1">
          <a:blip r:embed="rId5">
            <a:alphaModFix/>
          </a:blip>
          <a:srcRect b="0" l="0" r="0" t="0"/>
          <a:stretch/>
        </p:blipFill>
        <p:spPr>
          <a:xfrm>
            <a:off x="8119872" y="1490472"/>
            <a:ext cx="329184" cy="329184"/>
          </a:xfrm>
          <a:prstGeom prst="rect">
            <a:avLst/>
          </a:prstGeom>
          <a:noFill/>
          <a:ln>
            <a:noFill/>
          </a:ln>
        </p:spPr>
      </p:pic>
      <p:sp>
        <p:nvSpPr>
          <p:cNvPr id="335" name="Google Shape;335;p14"/>
          <p:cNvSpPr txBox="1"/>
          <p:nvPr/>
        </p:nvSpPr>
        <p:spPr>
          <a:xfrm>
            <a:off x="6355080" y="2011680"/>
            <a:ext cx="21031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1E33"/>
              </a:buClr>
              <a:buSzPts val="1500"/>
              <a:buFont typeface="Poppins"/>
              <a:buNone/>
            </a:pPr>
            <a:r>
              <a:rPr b="1" i="0" lang="en-US" sz="1500" u="none" cap="none" strike="noStrike">
                <a:solidFill>
                  <a:srgbClr val="1B1E33"/>
                </a:solidFill>
                <a:latin typeface="Poppins"/>
                <a:ea typeface="Poppins"/>
                <a:cs typeface="Poppins"/>
                <a:sym typeface="Poppins"/>
              </a:rPr>
              <a:t>Everywhere you learn</a:t>
            </a:r>
            <a:endParaRPr b="0" i="0" sz="1500" u="none" cap="none" strike="noStrike">
              <a:solidFill>
                <a:schemeClr val="dk1"/>
              </a:solidFill>
              <a:latin typeface="Inter"/>
              <a:ea typeface="Inter"/>
              <a:cs typeface="Inter"/>
              <a:sym typeface="Inter"/>
            </a:endParaRPr>
          </a:p>
        </p:txBody>
      </p:sp>
      <p:sp>
        <p:nvSpPr>
          <p:cNvPr id="336" name="Google Shape;336;p14"/>
          <p:cNvSpPr txBox="1"/>
          <p:nvPr/>
        </p:nvSpPr>
        <p:spPr>
          <a:xfrm>
            <a:off x="6355080" y="2423160"/>
            <a:ext cx="2103120" cy="16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078"/>
              </a:buClr>
              <a:buSzPts val="1100"/>
              <a:buFont typeface="Inter"/>
              <a:buNone/>
            </a:pPr>
            <a:r>
              <a:rPr b="0" i="0" lang="en-US" sz="1100" u="none" cap="none" strike="noStrike">
                <a:solidFill>
                  <a:srgbClr val="5B6078"/>
                </a:solidFill>
                <a:latin typeface="Inter"/>
                <a:ea typeface="Inter"/>
                <a:cs typeface="Inter"/>
                <a:sym typeface="Inter"/>
              </a:rPr>
              <a:t>Mobile apps, and partnerships with schools, universities and research institutions.</a:t>
            </a:r>
            <a:endParaRPr b="0" i="0" sz="1100" u="none" cap="none" strike="noStrike">
              <a:solidFill>
                <a:schemeClr val="dk1"/>
              </a:solidFill>
              <a:latin typeface="Inter"/>
              <a:ea typeface="Inter"/>
              <a:cs typeface="Inter"/>
              <a:sym typeface="Inter"/>
            </a:endParaRPr>
          </a:p>
        </p:txBody>
      </p:sp>
      <p:sp>
        <p:nvSpPr>
          <p:cNvPr id="337" name="Google Shape;337;p14"/>
          <p:cNvSpPr txBox="1"/>
          <p:nvPr/>
        </p:nvSpPr>
        <p:spPr>
          <a:xfrm>
            <a:off x="457200" y="4279392"/>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F46E5"/>
              </a:buClr>
              <a:buSzPts val="1100"/>
              <a:buFont typeface="Inter"/>
              <a:buNone/>
            </a:pPr>
            <a:r>
              <a:rPr b="0" i="1" lang="en-US" sz="1100" u="none" cap="none" strike="noStrike">
                <a:solidFill>
                  <a:srgbClr val="4F46E5"/>
                </a:solidFill>
                <a:latin typeface="Inter"/>
                <a:ea typeface="Inter"/>
                <a:cs typeface="Inter"/>
                <a:sym typeface="Inter"/>
              </a:rPr>
              <a:t>User feedback will guide every change, keeping Research Mate affordable, inclusive and useful.</a:t>
            </a:r>
            <a:endParaRPr b="0" i="0" sz="1100" u="none" cap="none" strike="noStrike">
              <a:solidFill>
                <a:schemeClr val="dk1"/>
              </a:solidFill>
              <a:latin typeface="Inter"/>
              <a:ea typeface="Inter"/>
              <a:cs typeface="Inter"/>
              <a:sym typeface="Inter"/>
            </a:endParaRPr>
          </a:p>
        </p:txBody>
      </p:sp>
      <p:sp>
        <p:nvSpPr>
          <p:cNvPr id="338" name="Google Shape;338;p14"/>
          <p:cNvSpPr txBox="1"/>
          <p:nvPr>
            <p:ph idx="4294967295" type="sldNum"/>
          </p:nvPr>
        </p:nvSpPr>
        <p:spPr>
          <a:xfrm>
            <a:off x="822960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8A8FA8"/>
                </a:solidFill>
                <a:latin typeface="Inter"/>
                <a:ea typeface="Inter"/>
                <a:cs typeface="Inter"/>
                <a:sym typeface="Inter"/>
              </a:rPr>
              <a:t>‹#›</a:t>
            </a:fld>
            <a:endParaRPr b="0" i="0" sz="900" u="none" cap="none" strike="noStrike">
              <a:solidFill>
                <a:srgbClr val="8A8FA8"/>
              </a:solidFill>
              <a:latin typeface="Inter"/>
              <a:ea typeface="Inter"/>
              <a:cs typeface="Inter"/>
              <a:sym typeface="Int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descr="C:\Users\vardh\AppData\Local\Temp\claude\C--Mayo-Projects-research-co-pilot\ed8aac66-bc68-4af8-a2ce-7ca39eae2bf2\scratchpad\deck\img\logo.png" id="344" name="Google Shape;344;p15"/>
          <p:cNvPicPr preferRelativeResize="0"/>
          <p:nvPr/>
        </p:nvPicPr>
        <p:blipFill rotWithShape="1">
          <a:blip r:embed="rId3">
            <a:alphaModFix/>
          </a:blip>
          <a:srcRect b="0" l="0" r="0" t="0"/>
          <a:stretch/>
        </p:blipFill>
        <p:spPr>
          <a:xfrm>
            <a:off x="4114800" y="777240"/>
            <a:ext cx="914400" cy="914400"/>
          </a:xfrm>
          <a:prstGeom prst="rect">
            <a:avLst/>
          </a:prstGeom>
          <a:noFill/>
          <a:ln>
            <a:noFill/>
          </a:ln>
        </p:spPr>
      </p:pic>
      <p:sp>
        <p:nvSpPr>
          <p:cNvPr id="345" name="Google Shape;345;p15"/>
          <p:cNvSpPr txBox="1"/>
          <p:nvPr/>
        </p:nvSpPr>
        <p:spPr>
          <a:xfrm>
            <a:off x="457200" y="1874520"/>
            <a:ext cx="822960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000"/>
              <a:buFont typeface="Poppins"/>
              <a:buNone/>
            </a:pPr>
            <a:r>
              <a:rPr b="1" i="0" lang="en-US" sz="4000" u="none" cap="none" strike="noStrike">
                <a:solidFill>
                  <a:srgbClr val="FFFFFF"/>
                </a:solidFill>
                <a:latin typeface="Poppins"/>
                <a:ea typeface="Poppins"/>
                <a:cs typeface="Poppins"/>
                <a:sym typeface="Poppins"/>
              </a:rPr>
              <a:t>Thank you</a:t>
            </a:r>
            <a:endParaRPr b="0" i="0" sz="4000" u="none" cap="none" strike="noStrike">
              <a:solidFill>
                <a:schemeClr val="dk1"/>
              </a:solidFill>
              <a:latin typeface="Inter"/>
              <a:ea typeface="Inter"/>
              <a:cs typeface="Inter"/>
              <a:sym typeface="Inter"/>
            </a:endParaRPr>
          </a:p>
        </p:txBody>
      </p:sp>
      <p:sp>
        <p:nvSpPr>
          <p:cNvPr id="346" name="Google Shape;346;p15"/>
          <p:cNvSpPr txBox="1"/>
          <p:nvPr/>
        </p:nvSpPr>
        <p:spPr>
          <a:xfrm>
            <a:off x="457200" y="2743200"/>
            <a:ext cx="82296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CDE6"/>
              </a:buClr>
              <a:buSzPts val="1800"/>
              <a:buFont typeface="Inter"/>
              <a:buNone/>
            </a:pPr>
            <a:r>
              <a:rPr b="0" i="0" lang="en-US" sz="1800" u="none" cap="none" strike="noStrike">
                <a:solidFill>
                  <a:srgbClr val="C9CDE6"/>
                </a:solidFill>
                <a:latin typeface="Inter"/>
                <a:ea typeface="Inter"/>
                <a:cs typeface="Inter"/>
                <a:sym typeface="Inter"/>
              </a:rPr>
              <a:t>Try it at </a:t>
            </a:r>
            <a:r>
              <a:rPr b="1" i="0" lang="en-US" sz="1800" u="sng" cap="none" strike="noStrike">
                <a:solidFill>
                  <a:srgbClr val="A3E635"/>
                </a:solidFill>
                <a:latin typeface="Inter"/>
                <a:ea typeface="Inter"/>
                <a:cs typeface="Inter"/>
                <a:sym typeface="Inter"/>
                <a:hlinkClick r:id="rId4">
                  <a:extLst>
                    <a:ext uri="{A12FA001-AC4F-418D-AE19-62706E023703}">
                      <ahyp:hlinkClr val="tx"/>
                    </a:ext>
                  </a:extLst>
                </a:hlinkClick>
              </a:rPr>
              <a:t>researchmate.online</a:t>
            </a:r>
            <a:endParaRPr b="0" i="0" sz="1800" u="none" cap="none" strike="noStrike">
              <a:solidFill>
                <a:schemeClr val="dk1"/>
              </a:solidFill>
              <a:latin typeface="Inter"/>
              <a:ea typeface="Inter"/>
              <a:cs typeface="Inter"/>
              <a:sym typeface="Inter"/>
            </a:endParaRPr>
          </a:p>
        </p:txBody>
      </p:sp>
      <p:sp>
        <p:nvSpPr>
          <p:cNvPr id="347" name="Google Shape;347;p15"/>
          <p:cNvSpPr txBox="1"/>
          <p:nvPr/>
        </p:nvSpPr>
        <p:spPr>
          <a:xfrm>
            <a:off x="457200" y="342900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CF8"/>
              </a:buClr>
              <a:buSzPts val="1400"/>
              <a:buFont typeface="Poppins"/>
              <a:buNone/>
            </a:pPr>
            <a:r>
              <a:rPr b="0" i="0" lang="en-US" sz="1400" u="none" cap="none" strike="noStrike">
                <a:solidFill>
                  <a:srgbClr val="8B9CF8"/>
                </a:solidFill>
                <a:latin typeface="Poppins"/>
                <a:ea typeface="Poppins"/>
                <a:cs typeface="Poppins"/>
                <a:sym typeface="Poppins"/>
              </a:rPr>
              <a:t>Questions?</a:t>
            </a:r>
            <a:endParaRPr b="0" i="0" sz="1400" u="none" cap="none" strike="noStrike">
              <a:solidFill>
                <a:schemeClr val="dk1"/>
              </a:solidFill>
              <a:latin typeface="Inter"/>
              <a:ea typeface="Inter"/>
              <a:cs typeface="Inter"/>
              <a:sym typeface="Inter"/>
            </a:endParaRPr>
          </a:p>
        </p:txBody>
      </p:sp>
      <p:sp>
        <p:nvSpPr>
          <p:cNvPr id="348" name="Google Shape;348;p15"/>
          <p:cNvSpPr txBox="1"/>
          <p:nvPr>
            <p:ph idx="4294967295" type="sldNum"/>
          </p:nvPr>
        </p:nvSpPr>
        <p:spPr>
          <a:xfrm>
            <a:off x="8229600" y="4773168"/>
            <a:ext cx="4572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900" u="none" cap="none" strike="noStrike">
                <a:solidFill>
                  <a:srgbClr val="7D84A8"/>
                </a:solidFill>
                <a:latin typeface="Inter"/>
                <a:ea typeface="Inter"/>
                <a:cs typeface="Inter"/>
                <a:sym typeface="Inter"/>
              </a:rPr>
              <a:t>‹#›</a:t>
            </a:fld>
            <a:endParaRPr b="0" i="0" sz="900" u="none" cap="none" strike="noStrike">
              <a:solidFill>
                <a:srgbClr val="7D84A8"/>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2026-10-21T13:43:28Z</dcterms:created>
  <dc:creator>Mayo AI Bootcamp Group 9</dc:creator>
</cp:coreProperties>
</file>